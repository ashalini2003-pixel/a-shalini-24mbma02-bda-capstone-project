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Frank Ruhl Libre Bold" charset="1" panose="00000800000000000000"/>
      <p:regular r:id="rId11"/>
    </p:embeddedFont>
    <p:embeddedFont>
      <p:font typeface="Libre Baskerville" charset="1" panose="02000000000000000000"/>
      <p:regular r:id="rId12"/>
    </p:embeddedFont>
    <p:embeddedFont>
      <p:font typeface="DM Sans Bold" charset="1" panose="00000000000000000000"/>
      <p:regular r:id="rId13"/>
    </p:embeddedFont>
    <p:embeddedFont>
      <p:font typeface="Libre Baskerville Bold" charset="1" panose="02000000000000000000"/>
      <p:regular r:id="rId14"/>
    </p:embeddedFont>
    <p:embeddedFont>
      <p:font typeface="Times New Roman Bold" charset="1" panose="02020803070505020304"/>
      <p:regular r:id="rId15"/>
    </p:embeddedFont>
    <p:embeddedFont>
      <p:font typeface="DM Sans" charset="1" panose="00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FA"/>
            </a:solidFill>
          </p:spPr>
        </p:sp>
      </p:grpSp>
      <p:sp>
        <p:nvSpPr>
          <p:cNvPr name="Freeform 6" id="6"/>
          <p:cNvSpPr/>
          <p:nvPr/>
        </p:nvSpPr>
        <p:spPr>
          <a:xfrm flipH="false" flipV="false" rot="0">
            <a:off x="10324229" y="0"/>
            <a:ext cx="7963771" cy="10370047"/>
          </a:xfrm>
          <a:custGeom>
            <a:avLst/>
            <a:gdLst/>
            <a:ahLst/>
            <a:cxnLst/>
            <a:rect r="r" b="b" t="t" l="l"/>
            <a:pathLst>
              <a:path h="10370047" w="7963771">
                <a:moveTo>
                  <a:pt x="0" y="0"/>
                </a:moveTo>
                <a:lnTo>
                  <a:pt x="7963771" y="0"/>
                </a:lnTo>
                <a:lnTo>
                  <a:pt x="7963771" y="10370047"/>
                </a:lnTo>
                <a:lnTo>
                  <a:pt x="0" y="10370047"/>
                </a:lnTo>
                <a:lnTo>
                  <a:pt x="0" y="0"/>
                </a:lnTo>
                <a:close/>
              </a:path>
            </a:pathLst>
          </a:custGeom>
          <a:blipFill>
            <a:blip r:embed="rId3"/>
            <a:stretch>
              <a:fillRect l="-13938" t="-3386" r="-20686" b="0"/>
            </a:stretch>
          </a:blipFill>
        </p:spPr>
      </p:sp>
      <p:sp>
        <p:nvSpPr>
          <p:cNvPr name="TextBox 7" id="7"/>
          <p:cNvSpPr txBox="true"/>
          <p:nvPr/>
        </p:nvSpPr>
        <p:spPr>
          <a:xfrm rot="0">
            <a:off x="272167" y="280734"/>
            <a:ext cx="10324229" cy="1871502"/>
          </a:xfrm>
          <a:prstGeom prst="rect">
            <a:avLst/>
          </a:prstGeom>
        </p:spPr>
        <p:txBody>
          <a:bodyPr anchor="t" rtlCol="false" tIns="0" lIns="0" bIns="0" rIns="0">
            <a:spAutoFit/>
          </a:bodyPr>
          <a:lstStyle/>
          <a:p>
            <a:pPr algn="l">
              <a:lnSpc>
                <a:spcPts val="4988"/>
              </a:lnSpc>
            </a:pPr>
            <a:r>
              <a:rPr lang="en-US" sz="3999" b="true">
                <a:solidFill>
                  <a:srgbClr val="000000"/>
                </a:solidFill>
                <a:latin typeface="Frank Ruhl Libre Bold"/>
                <a:ea typeface="Frank Ruhl Libre Bold"/>
                <a:cs typeface="Frank Ruhl Libre Bold"/>
                <a:sym typeface="Frank Ruhl Libre Bold"/>
              </a:rPr>
              <a:t>A Big Data Analytics Capstone Project in </a:t>
            </a:r>
            <a:r>
              <a:rPr lang="en-US" sz="3999" b="true">
                <a:solidFill>
                  <a:srgbClr val="000000"/>
                </a:solidFill>
                <a:latin typeface="Frank Ruhl Libre Bold"/>
                <a:ea typeface="Frank Ruhl Libre Bold"/>
                <a:cs typeface="Frank Ruhl Libre Bold"/>
                <a:sym typeface="Frank Ruhl Libre Bold"/>
              </a:rPr>
              <a:t>Finance (Banking, Financial services, Insurance) </a:t>
            </a:r>
          </a:p>
        </p:txBody>
      </p:sp>
      <p:sp>
        <p:nvSpPr>
          <p:cNvPr name="TextBox 8" id="8"/>
          <p:cNvSpPr txBox="true"/>
          <p:nvPr/>
        </p:nvSpPr>
        <p:spPr>
          <a:xfrm rot="0">
            <a:off x="228137" y="7213010"/>
            <a:ext cx="9779896" cy="2760890"/>
          </a:xfrm>
          <a:prstGeom prst="rect">
            <a:avLst/>
          </a:prstGeom>
        </p:spPr>
        <p:txBody>
          <a:bodyPr anchor="t" rtlCol="false" tIns="0" lIns="0" bIns="0" rIns="0">
            <a:spAutoFit/>
          </a:bodyPr>
          <a:lstStyle/>
          <a:p>
            <a:pPr algn="just">
              <a:lnSpc>
                <a:spcPts val="3745"/>
              </a:lnSpc>
            </a:pPr>
            <a:r>
              <a:rPr lang="en-US" sz="2299">
                <a:solidFill>
                  <a:srgbClr val="454240"/>
                </a:solidFill>
                <a:latin typeface="Libre Baskerville"/>
                <a:ea typeface="Libre Baskerville"/>
                <a:cs typeface="Libre Baskerville"/>
                <a:sym typeface="Libre Baskerville"/>
              </a:rPr>
              <a:t>The financial sector generates vast amounts of data daily, yet struggles to extract actionable insights. This comprehensive big data analytics portfolio addresses five critical business imperatives. Through five strategic use cases, we demonstrate how machine learning transforms raw data into measurable business value across banking and financial services.</a:t>
            </a:r>
          </a:p>
        </p:txBody>
      </p:sp>
      <p:sp>
        <p:nvSpPr>
          <p:cNvPr name="TextBox 9" id="9"/>
          <p:cNvSpPr txBox="true"/>
          <p:nvPr/>
        </p:nvSpPr>
        <p:spPr>
          <a:xfrm rot="0">
            <a:off x="4109163" y="2436719"/>
            <a:ext cx="2650236" cy="1460133"/>
          </a:xfrm>
          <a:prstGeom prst="rect">
            <a:avLst/>
          </a:prstGeom>
        </p:spPr>
        <p:txBody>
          <a:bodyPr anchor="t" rtlCol="false" tIns="0" lIns="0" bIns="0" rIns="0">
            <a:spAutoFit/>
          </a:bodyPr>
          <a:lstStyle/>
          <a:p>
            <a:pPr algn="just">
              <a:lnSpc>
                <a:spcPts val="3907"/>
              </a:lnSpc>
            </a:pPr>
            <a:r>
              <a:rPr lang="en-US" sz="2400" b="true">
                <a:solidFill>
                  <a:srgbClr val="454240"/>
                </a:solidFill>
                <a:latin typeface="DM Sans Bold"/>
                <a:ea typeface="DM Sans Bold"/>
                <a:cs typeface="DM Sans Bold"/>
                <a:sym typeface="DM Sans Bold"/>
              </a:rPr>
              <a:t>A.SHALINI</a:t>
            </a:r>
          </a:p>
          <a:p>
            <a:pPr algn="just">
              <a:lnSpc>
                <a:spcPts val="3907"/>
              </a:lnSpc>
            </a:pPr>
            <a:r>
              <a:rPr lang="en-US" sz="2400" b="true">
                <a:solidFill>
                  <a:srgbClr val="454240"/>
                </a:solidFill>
                <a:latin typeface="DM Sans Bold"/>
                <a:ea typeface="DM Sans Bold"/>
                <a:cs typeface="DM Sans Bold"/>
                <a:sym typeface="DM Sans Bold"/>
              </a:rPr>
              <a:t>24MBMA02</a:t>
            </a:r>
          </a:p>
          <a:p>
            <a:pPr algn="just">
              <a:lnSpc>
                <a:spcPts val="3908"/>
              </a:lnSpc>
            </a:pPr>
            <a:r>
              <a:rPr lang="en-US" sz="2400" b="true">
                <a:solidFill>
                  <a:srgbClr val="454240"/>
                </a:solidFill>
                <a:latin typeface="DM Sans Bold"/>
                <a:ea typeface="DM Sans Bold"/>
                <a:cs typeface="DM Sans Bold"/>
                <a:sym typeface="DM Sans Bold"/>
              </a:rPr>
              <a:t>MBA (GENERAL)</a:t>
            </a:r>
          </a:p>
        </p:txBody>
      </p:sp>
      <p:sp>
        <p:nvSpPr>
          <p:cNvPr name="TextBox 10" id="10"/>
          <p:cNvSpPr txBox="true"/>
          <p:nvPr/>
        </p:nvSpPr>
        <p:spPr>
          <a:xfrm rot="0">
            <a:off x="272167" y="4181335"/>
            <a:ext cx="9691837" cy="3268534"/>
          </a:xfrm>
          <a:prstGeom prst="rect">
            <a:avLst/>
          </a:prstGeom>
        </p:spPr>
        <p:txBody>
          <a:bodyPr anchor="t" rtlCol="false" tIns="0" lIns="0" bIns="0" rIns="0">
            <a:spAutoFit/>
          </a:bodyPr>
          <a:lstStyle/>
          <a:p>
            <a:pPr algn="just">
              <a:lnSpc>
                <a:spcPts val="4395"/>
              </a:lnSpc>
            </a:pPr>
            <a:r>
              <a:rPr lang="en-US" b="true" sz="2699">
                <a:solidFill>
                  <a:srgbClr val="000000"/>
                </a:solidFill>
                <a:latin typeface="Libre Baskerville Bold"/>
                <a:ea typeface="Libre Baskerville Bold"/>
                <a:cs typeface="Libre Baskerville Bold"/>
                <a:sym typeface="Libre Baskerville Bold"/>
              </a:rPr>
              <a:t>USE CASES:</a:t>
            </a:r>
          </a:p>
          <a:p>
            <a:pPr algn="just">
              <a:lnSpc>
                <a:spcPts val="3581"/>
              </a:lnSpc>
            </a:pPr>
            <a:r>
              <a:rPr lang="en-US" b="true" sz="2200">
                <a:solidFill>
                  <a:srgbClr val="000000"/>
                </a:solidFill>
                <a:latin typeface="Libre Baskerville Bold"/>
                <a:ea typeface="Libre Baskerville Bold"/>
                <a:cs typeface="Libre Baskerville Bold"/>
                <a:sym typeface="Libre Baskerville Bold"/>
              </a:rPr>
              <a:t>1. Predicting customer churn in Banking</a:t>
            </a:r>
          </a:p>
          <a:p>
            <a:pPr algn="just">
              <a:lnSpc>
                <a:spcPts val="3581"/>
              </a:lnSpc>
            </a:pPr>
            <a:r>
              <a:rPr lang="en-US" b="true" sz="2200">
                <a:solidFill>
                  <a:srgbClr val="000000"/>
                </a:solidFill>
                <a:latin typeface="Libre Baskerville Bold"/>
                <a:ea typeface="Libre Baskerville Bold"/>
                <a:cs typeface="Libre Baskerville Bold"/>
                <a:sym typeface="Libre Baskerville Bold"/>
              </a:rPr>
              <a:t>2. ATM cash demand forecasting </a:t>
            </a:r>
          </a:p>
          <a:p>
            <a:pPr algn="just">
              <a:lnSpc>
                <a:spcPts val="3581"/>
              </a:lnSpc>
            </a:pPr>
            <a:r>
              <a:rPr lang="en-US" b="true" sz="2200">
                <a:solidFill>
                  <a:srgbClr val="000000"/>
                </a:solidFill>
                <a:latin typeface="Libre Baskerville Bold"/>
                <a:ea typeface="Libre Baskerville Bold"/>
                <a:cs typeface="Libre Baskerville Bold"/>
                <a:sym typeface="Libre Baskerville Bold"/>
              </a:rPr>
              <a:t>3. Credit card fraud detection </a:t>
            </a:r>
          </a:p>
          <a:p>
            <a:pPr algn="just">
              <a:lnSpc>
                <a:spcPts val="3581"/>
              </a:lnSpc>
            </a:pPr>
            <a:r>
              <a:rPr lang="en-US" b="true" sz="2200">
                <a:solidFill>
                  <a:srgbClr val="000000"/>
                </a:solidFill>
                <a:latin typeface="Libre Baskerville Bold"/>
                <a:ea typeface="Libre Baskerville Bold"/>
                <a:cs typeface="Libre Baskerville Bold"/>
                <a:sym typeface="Libre Baskerville Bold"/>
              </a:rPr>
              <a:t>4. Customer segmentation for banking </a:t>
            </a:r>
          </a:p>
          <a:p>
            <a:pPr algn="just">
              <a:lnSpc>
                <a:spcPts val="3581"/>
              </a:lnSpc>
            </a:pPr>
            <a:r>
              <a:rPr lang="en-US" b="true" sz="2200">
                <a:solidFill>
                  <a:srgbClr val="000000"/>
                </a:solidFill>
                <a:latin typeface="Libre Baskerville Bold"/>
                <a:ea typeface="Libre Baskerville Bold"/>
                <a:cs typeface="Libre Baskerville Bold"/>
                <a:sym typeface="Libre Baskerville Bold"/>
              </a:rPr>
              <a:t>5. Loan default prediction</a:t>
            </a:r>
          </a:p>
          <a:p>
            <a:pPr algn="just">
              <a:lnSpc>
                <a:spcPts val="4071"/>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FA"/>
            </a:solidFill>
          </p:spPr>
        </p:sp>
      </p:grpSp>
      <p:sp>
        <p:nvSpPr>
          <p:cNvPr name="TextBox 6" id="6"/>
          <p:cNvSpPr txBox="true"/>
          <p:nvPr/>
        </p:nvSpPr>
        <p:spPr>
          <a:xfrm rot="0">
            <a:off x="880691" y="773483"/>
            <a:ext cx="16526619" cy="789598"/>
          </a:xfrm>
          <a:prstGeom prst="rect">
            <a:avLst/>
          </a:prstGeom>
        </p:spPr>
        <p:txBody>
          <a:bodyPr anchor="t" rtlCol="false" tIns="0" lIns="0" bIns="0" rIns="0">
            <a:spAutoFit/>
          </a:bodyPr>
          <a:lstStyle/>
          <a:p>
            <a:pPr algn="l">
              <a:lnSpc>
                <a:spcPts val="6307"/>
              </a:lnSpc>
            </a:pPr>
            <a:r>
              <a:rPr lang="en-US" sz="5000">
                <a:solidFill>
                  <a:srgbClr val="000000"/>
                </a:solidFill>
                <a:latin typeface="Libre Baskerville"/>
                <a:ea typeface="Libre Baskerville"/>
                <a:cs typeface="Libre Baskerville"/>
                <a:sym typeface="Libre Baskerville"/>
              </a:rPr>
              <a:t>Driving Revenue Through Customer Intelligence</a:t>
            </a:r>
          </a:p>
        </p:txBody>
      </p:sp>
      <p:sp>
        <p:nvSpPr>
          <p:cNvPr name="TextBox 7" id="7"/>
          <p:cNvSpPr txBox="true"/>
          <p:nvPr/>
        </p:nvSpPr>
        <p:spPr>
          <a:xfrm rot="0">
            <a:off x="494896" y="2030028"/>
            <a:ext cx="5324795" cy="1311275"/>
          </a:xfrm>
          <a:prstGeom prst="rect">
            <a:avLst/>
          </a:prstGeom>
        </p:spPr>
        <p:txBody>
          <a:bodyPr anchor="t" rtlCol="false" tIns="0" lIns="0" bIns="0" rIns="0">
            <a:spAutoFit/>
          </a:bodyPr>
          <a:lstStyle/>
          <a:p>
            <a:pPr algn="ctr">
              <a:lnSpc>
                <a:spcPts val="5124"/>
              </a:lnSpc>
            </a:pPr>
            <a:r>
              <a:rPr lang="en-US" b="true" sz="3999">
                <a:solidFill>
                  <a:srgbClr val="454240"/>
                </a:solidFill>
                <a:latin typeface="Times New Roman Bold"/>
                <a:ea typeface="Times New Roman Bold"/>
                <a:cs typeface="Times New Roman Bold"/>
                <a:sym typeface="Times New Roman Bold"/>
              </a:rPr>
              <a:t>Customer Segmentation for Banking</a:t>
            </a:r>
          </a:p>
        </p:txBody>
      </p:sp>
      <p:sp>
        <p:nvSpPr>
          <p:cNvPr name="TextBox 8" id="8"/>
          <p:cNvSpPr txBox="true"/>
          <p:nvPr/>
        </p:nvSpPr>
        <p:spPr>
          <a:xfrm rot="0">
            <a:off x="880691" y="3779675"/>
            <a:ext cx="4553207" cy="1208942"/>
          </a:xfrm>
          <a:prstGeom prst="rect">
            <a:avLst/>
          </a:prstGeom>
        </p:spPr>
        <p:txBody>
          <a:bodyPr anchor="t" rtlCol="false" tIns="0" lIns="0" bIns="0" rIns="0">
            <a:spAutoFit/>
          </a:bodyPr>
          <a:lstStyle/>
          <a:p>
            <a:pPr algn="just">
              <a:lnSpc>
                <a:spcPts val="3230"/>
              </a:lnSpc>
            </a:pPr>
            <a:r>
              <a:rPr lang="en-US" sz="2000" b="true">
                <a:solidFill>
                  <a:srgbClr val="454240"/>
                </a:solidFill>
                <a:latin typeface="DM Sans Bold"/>
                <a:ea typeface="DM Sans Bold"/>
                <a:cs typeface="DM Sans Bold"/>
                <a:sym typeface="DM Sans Bold"/>
              </a:rPr>
              <a:t>Challenge:</a:t>
            </a:r>
            <a:r>
              <a:rPr lang="en-US" sz="2000">
                <a:solidFill>
                  <a:srgbClr val="454240"/>
                </a:solidFill>
                <a:latin typeface="DM Sans"/>
                <a:ea typeface="DM Sans"/>
                <a:cs typeface="DM Sans"/>
                <a:sym typeface="DM Sans"/>
              </a:rPr>
              <a:t> Generic marketing approaches fail to engage diverse customer bases effectively.</a:t>
            </a:r>
          </a:p>
        </p:txBody>
      </p:sp>
      <p:sp>
        <p:nvSpPr>
          <p:cNvPr name="TextBox 9" id="9"/>
          <p:cNvSpPr txBox="true"/>
          <p:nvPr/>
        </p:nvSpPr>
        <p:spPr>
          <a:xfrm rot="0">
            <a:off x="880691" y="5174231"/>
            <a:ext cx="4553207" cy="1208942"/>
          </a:xfrm>
          <a:prstGeom prst="rect">
            <a:avLst/>
          </a:prstGeom>
        </p:spPr>
        <p:txBody>
          <a:bodyPr anchor="t" rtlCol="false" tIns="0" lIns="0" bIns="0" rIns="0">
            <a:spAutoFit/>
          </a:bodyPr>
          <a:lstStyle/>
          <a:p>
            <a:pPr algn="just">
              <a:lnSpc>
                <a:spcPts val="3230"/>
              </a:lnSpc>
            </a:pPr>
            <a:r>
              <a:rPr lang="en-US" sz="2000" b="true">
                <a:solidFill>
                  <a:srgbClr val="454240"/>
                </a:solidFill>
                <a:latin typeface="DM Sans Bold"/>
                <a:ea typeface="DM Sans Bold"/>
                <a:cs typeface="DM Sans Bold"/>
                <a:sym typeface="DM Sans Bold"/>
              </a:rPr>
              <a:t>Solution:</a:t>
            </a:r>
            <a:r>
              <a:rPr lang="en-US" sz="2000">
                <a:solidFill>
                  <a:srgbClr val="454240"/>
                </a:solidFill>
                <a:latin typeface="DM Sans"/>
                <a:ea typeface="DM Sans"/>
                <a:cs typeface="DM Sans"/>
                <a:sym typeface="DM Sans"/>
              </a:rPr>
              <a:t> Unsupervised Clustering (K-Means / DBSCAN) on transaction + demographic data.</a:t>
            </a:r>
          </a:p>
        </p:txBody>
      </p:sp>
      <p:sp>
        <p:nvSpPr>
          <p:cNvPr name="TextBox 10" id="10"/>
          <p:cNvSpPr txBox="true"/>
          <p:nvPr/>
        </p:nvSpPr>
        <p:spPr>
          <a:xfrm rot="0">
            <a:off x="880691" y="6568787"/>
            <a:ext cx="4553207" cy="1208942"/>
          </a:xfrm>
          <a:prstGeom prst="rect">
            <a:avLst/>
          </a:prstGeom>
        </p:spPr>
        <p:txBody>
          <a:bodyPr anchor="t" rtlCol="false" tIns="0" lIns="0" bIns="0" rIns="0">
            <a:spAutoFit/>
          </a:bodyPr>
          <a:lstStyle/>
          <a:p>
            <a:pPr algn="just">
              <a:lnSpc>
                <a:spcPts val="3230"/>
              </a:lnSpc>
            </a:pPr>
            <a:r>
              <a:rPr lang="en-US" sz="2000" b="true">
                <a:solidFill>
                  <a:srgbClr val="454240"/>
                </a:solidFill>
                <a:latin typeface="DM Sans Bold"/>
                <a:ea typeface="DM Sans Bold"/>
                <a:cs typeface="DM Sans Bold"/>
                <a:sym typeface="DM Sans Bold"/>
              </a:rPr>
              <a:t>Impact:</a:t>
            </a:r>
            <a:r>
              <a:rPr lang="en-US" sz="2000">
                <a:solidFill>
                  <a:srgbClr val="454240"/>
                </a:solidFill>
                <a:latin typeface="DM Sans"/>
                <a:ea typeface="DM Sans"/>
                <a:cs typeface="DM Sans"/>
                <a:sym typeface="DM Sans"/>
              </a:rPr>
              <a:t> Enables targeted offers and personalized marketing → expected 8–10% growth in digital transactions..</a:t>
            </a:r>
          </a:p>
        </p:txBody>
      </p:sp>
      <p:sp>
        <p:nvSpPr>
          <p:cNvPr name="TextBox 11" id="11"/>
          <p:cNvSpPr txBox="true"/>
          <p:nvPr/>
        </p:nvSpPr>
        <p:spPr>
          <a:xfrm rot="0">
            <a:off x="6153334" y="2030028"/>
            <a:ext cx="4613814" cy="1311275"/>
          </a:xfrm>
          <a:prstGeom prst="rect">
            <a:avLst/>
          </a:prstGeom>
        </p:spPr>
        <p:txBody>
          <a:bodyPr anchor="t" rtlCol="false" tIns="0" lIns="0" bIns="0" rIns="0">
            <a:spAutoFit/>
          </a:bodyPr>
          <a:lstStyle/>
          <a:p>
            <a:pPr algn="ctr">
              <a:lnSpc>
                <a:spcPts val="5124"/>
              </a:lnSpc>
            </a:pPr>
            <a:r>
              <a:rPr lang="en-US" b="true" sz="3999">
                <a:solidFill>
                  <a:srgbClr val="454240"/>
                </a:solidFill>
                <a:latin typeface="Times New Roman Bold"/>
                <a:ea typeface="Times New Roman Bold"/>
                <a:cs typeface="Times New Roman Bold"/>
                <a:sym typeface="Times New Roman Bold"/>
              </a:rPr>
              <a:t>Predicting Customer Churn in Banking</a:t>
            </a:r>
          </a:p>
        </p:txBody>
      </p:sp>
      <p:sp>
        <p:nvSpPr>
          <p:cNvPr name="TextBox 12" id="12"/>
          <p:cNvSpPr txBox="true"/>
          <p:nvPr/>
        </p:nvSpPr>
        <p:spPr>
          <a:xfrm rot="0">
            <a:off x="6014922" y="3758549"/>
            <a:ext cx="4890639" cy="1208942"/>
          </a:xfrm>
          <a:prstGeom prst="rect">
            <a:avLst/>
          </a:prstGeom>
        </p:spPr>
        <p:txBody>
          <a:bodyPr anchor="t" rtlCol="false" tIns="0" lIns="0" bIns="0" rIns="0">
            <a:spAutoFit/>
          </a:bodyPr>
          <a:lstStyle/>
          <a:p>
            <a:pPr algn="just">
              <a:lnSpc>
                <a:spcPts val="3230"/>
              </a:lnSpc>
            </a:pPr>
            <a:r>
              <a:rPr lang="en-US" sz="2000" b="true">
                <a:solidFill>
                  <a:srgbClr val="454240"/>
                </a:solidFill>
                <a:latin typeface="DM Sans Bold"/>
                <a:ea typeface="DM Sans Bold"/>
                <a:cs typeface="DM Sans Bold"/>
                <a:sym typeface="DM Sans Bold"/>
              </a:rPr>
              <a:t>Challenge:</a:t>
            </a:r>
            <a:r>
              <a:rPr lang="en-US" sz="2000">
                <a:solidFill>
                  <a:srgbClr val="454240"/>
                </a:solidFill>
                <a:latin typeface="DM Sans"/>
                <a:ea typeface="DM Sans"/>
                <a:cs typeface="DM Sans"/>
                <a:sym typeface="DM Sans"/>
              </a:rPr>
              <a:t> Acquiring new customers costs five times more than retaining existing ones.</a:t>
            </a:r>
          </a:p>
        </p:txBody>
      </p:sp>
      <p:sp>
        <p:nvSpPr>
          <p:cNvPr name="TextBox 13" id="13"/>
          <p:cNvSpPr txBox="true"/>
          <p:nvPr/>
        </p:nvSpPr>
        <p:spPr>
          <a:xfrm rot="0">
            <a:off x="6014922" y="5264842"/>
            <a:ext cx="4890639" cy="1618517"/>
          </a:xfrm>
          <a:prstGeom prst="rect">
            <a:avLst/>
          </a:prstGeom>
        </p:spPr>
        <p:txBody>
          <a:bodyPr anchor="t" rtlCol="false" tIns="0" lIns="0" bIns="0" rIns="0">
            <a:spAutoFit/>
          </a:bodyPr>
          <a:lstStyle/>
          <a:p>
            <a:pPr algn="just">
              <a:lnSpc>
                <a:spcPts val="3230"/>
              </a:lnSpc>
            </a:pPr>
            <a:r>
              <a:rPr lang="en-US" sz="2000" b="true">
                <a:solidFill>
                  <a:srgbClr val="454240"/>
                </a:solidFill>
                <a:latin typeface="DM Sans Bold"/>
                <a:ea typeface="DM Sans Bold"/>
                <a:cs typeface="DM Sans Bold"/>
                <a:sym typeface="DM Sans Bold"/>
              </a:rPr>
              <a:t>Solution:</a:t>
            </a:r>
            <a:r>
              <a:rPr lang="en-US" sz="2000">
                <a:solidFill>
                  <a:srgbClr val="454240"/>
                </a:solidFill>
                <a:latin typeface="DM Sans"/>
                <a:ea typeface="DM Sans"/>
                <a:cs typeface="DM Sans"/>
                <a:sym typeface="DM Sans"/>
              </a:rPr>
              <a:t> Binary classification models predict churn probability by analysing activity levels, account balances, and service interactions.</a:t>
            </a:r>
          </a:p>
        </p:txBody>
      </p:sp>
      <p:sp>
        <p:nvSpPr>
          <p:cNvPr name="TextBox 14" id="14"/>
          <p:cNvSpPr txBox="true"/>
          <p:nvPr/>
        </p:nvSpPr>
        <p:spPr>
          <a:xfrm rot="0">
            <a:off x="6041956" y="7086274"/>
            <a:ext cx="4678868" cy="1618566"/>
          </a:xfrm>
          <a:prstGeom prst="rect">
            <a:avLst/>
          </a:prstGeom>
        </p:spPr>
        <p:txBody>
          <a:bodyPr anchor="t" rtlCol="false" tIns="0" lIns="0" bIns="0" rIns="0">
            <a:spAutoFit/>
          </a:bodyPr>
          <a:lstStyle/>
          <a:p>
            <a:pPr algn="just">
              <a:lnSpc>
                <a:spcPts val="3230"/>
              </a:lnSpc>
            </a:pPr>
            <a:r>
              <a:rPr lang="en-US" b="true" sz="2000">
                <a:solidFill>
                  <a:srgbClr val="454240"/>
                </a:solidFill>
                <a:latin typeface="DM Sans Bold"/>
                <a:ea typeface="DM Sans Bold"/>
                <a:cs typeface="DM Sans Bold"/>
                <a:sym typeface="DM Sans Bold"/>
              </a:rPr>
              <a:t>Impact: </a:t>
            </a:r>
            <a:r>
              <a:rPr lang="en-US" sz="2000">
                <a:solidFill>
                  <a:srgbClr val="454240"/>
                </a:solidFill>
                <a:latin typeface="DM Sans"/>
                <a:ea typeface="DM Sans"/>
                <a:cs typeface="DM Sans"/>
                <a:sym typeface="DM Sans"/>
              </a:rPr>
              <a:t>Helps focus retention efforts on high-risk customers → higher retention ROI.</a:t>
            </a:r>
          </a:p>
          <a:p>
            <a:pPr algn="just">
              <a:lnSpc>
                <a:spcPts val="3230"/>
              </a:lnSpc>
            </a:pPr>
          </a:p>
        </p:txBody>
      </p:sp>
      <p:sp>
        <p:nvSpPr>
          <p:cNvPr name="TextBox 15" id="15"/>
          <p:cNvSpPr txBox="true"/>
          <p:nvPr/>
        </p:nvSpPr>
        <p:spPr>
          <a:xfrm rot="0">
            <a:off x="11834578" y="1906203"/>
            <a:ext cx="5074219" cy="1593398"/>
          </a:xfrm>
          <a:prstGeom prst="rect">
            <a:avLst/>
          </a:prstGeom>
        </p:spPr>
        <p:txBody>
          <a:bodyPr anchor="t" rtlCol="false" tIns="0" lIns="0" bIns="0" rIns="0">
            <a:spAutoFit/>
          </a:bodyPr>
          <a:lstStyle/>
          <a:p>
            <a:pPr algn="ctr">
              <a:lnSpc>
                <a:spcPts val="6428"/>
              </a:lnSpc>
              <a:spcBef>
                <a:spcPct val="0"/>
              </a:spcBef>
            </a:pPr>
            <a:r>
              <a:rPr lang="en-US" b="true" sz="3999">
                <a:solidFill>
                  <a:srgbClr val="454240"/>
                </a:solidFill>
                <a:latin typeface="Times New Roman Bold"/>
                <a:ea typeface="Times New Roman Bold"/>
                <a:cs typeface="Times New Roman Bold"/>
                <a:sym typeface="Times New Roman Bold"/>
              </a:rPr>
              <a:t>ATM Cash Demand Forecasting</a:t>
            </a:r>
          </a:p>
        </p:txBody>
      </p:sp>
      <p:sp>
        <p:nvSpPr>
          <p:cNvPr name="TextBox 16" id="16"/>
          <p:cNvSpPr txBox="true"/>
          <p:nvPr/>
        </p:nvSpPr>
        <p:spPr>
          <a:xfrm rot="0">
            <a:off x="11484075" y="3763108"/>
            <a:ext cx="5775225" cy="1613958"/>
          </a:xfrm>
          <a:prstGeom prst="rect">
            <a:avLst/>
          </a:prstGeom>
        </p:spPr>
        <p:txBody>
          <a:bodyPr anchor="t" rtlCol="false" tIns="0" lIns="0" bIns="0" rIns="0">
            <a:spAutoFit/>
          </a:bodyPr>
          <a:lstStyle/>
          <a:p>
            <a:pPr algn="just">
              <a:lnSpc>
                <a:spcPts val="3266"/>
              </a:lnSpc>
            </a:pPr>
            <a:r>
              <a:rPr lang="en-US" b="true" sz="2000">
                <a:solidFill>
                  <a:srgbClr val="454240"/>
                </a:solidFill>
                <a:latin typeface="DM Sans Bold"/>
                <a:ea typeface="DM Sans Bold"/>
                <a:cs typeface="DM Sans Bold"/>
                <a:sym typeface="DM Sans Bold"/>
              </a:rPr>
              <a:t>Challenge:</a:t>
            </a:r>
            <a:r>
              <a:rPr lang="en-US" sz="2000">
                <a:solidFill>
                  <a:srgbClr val="454240"/>
                </a:solidFill>
                <a:latin typeface="DM Sans"/>
                <a:ea typeface="DM Sans"/>
                <a:cs typeface="DM Sans"/>
                <a:sym typeface="DM Sans"/>
              </a:rPr>
              <a:t> Inefficient cash management leads to ATMs running out of cash, customer frustration, or excessive idle capital and increased security risks.</a:t>
            </a:r>
          </a:p>
        </p:txBody>
      </p:sp>
      <p:sp>
        <p:nvSpPr>
          <p:cNvPr name="TextBox 17" id="17"/>
          <p:cNvSpPr txBox="true"/>
          <p:nvPr/>
        </p:nvSpPr>
        <p:spPr>
          <a:xfrm rot="0">
            <a:off x="11484075" y="5558041"/>
            <a:ext cx="5775225" cy="1613958"/>
          </a:xfrm>
          <a:prstGeom prst="rect">
            <a:avLst/>
          </a:prstGeom>
        </p:spPr>
        <p:txBody>
          <a:bodyPr anchor="t" rtlCol="false" tIns="0" lIns="0" bIns="0" rIns="0">
            <a:spAutoFit/>
          </a:bodyPr>
          <a:lstStyle/>
          <a:p>
            <a:pPr algn="just">
              <a:lnSpc>
                <a:spcPts val="3266"/>
              </a:lnSpc>
            </a:pPr>
            <a:r>
              <a:rPr lang="en-US" b="true" sz="2000">
                <a:solidFill>
                  <a:srgbClr val="454240"/>
                </a:solidFill>
                <a:latin typeface="DM Sans Bold"/>
                <a:ea typeface="DM Sans Bold"/>
                <a:cs typeface="DM Sans Bold"/>
                <a:sym typeface="DM Sans Bold"/>
              </a:rPr>
              <a:t>Solution</a:t>
            </a:r>
            <a:r>
              <a:rPr lang="en-US" b="true" sz="2000">
                <a:solidFill>
                  <a:srgbClr val="454240"/>
                </a:solidFill>
                <a:latin typeface="DM Sans Bold"/>
                <a:ea typeface="DM Sans Bold"/>
                <a:cs typeface="DM Sans Bold"/>
                <a:sym typeface="DM Sans Bold"/>
              </a:rPr>
              <a:t>:</a:t>
            </a:r>
            <a:r>
              <a:rPr lang="en-US" sz="2000">
                <a:solidFill>
                  <a:srgbClr val="454240"/>
                </a:solidFill>
                <a:latin typeface="DM Sans"/>
                <a:ea typeface="DM Sans"/>
                <a:cs typeface="DM Sans"/>
                <a:sym typeface="DM Sans"/>
              </a:rPr>
              <a:t> Time-series forecasting models (e.g., Prophet) predict daily/hourly cash withdrawals based on historical data, seasonal patterns, and local events.</a:t>
            </a:r>
          </a:p>
        </p:txBody>
      </p:sp>
      <p:sp>
        <p:nvSpPr>
          <p:cNvPr name="TextBox 18" id="18"/>
          <p:cNvSpPr txBox="true"/>
          <p:nvPr/>
        </p:nvSpPr>
        <p:spPr>
          <a:xfrm rot="0">
            <a:off x="11484075" y="7352974"/>
            <a:ext cx="5775225" cy="1613958"/>
          </a:xfrm>
          <a:prstGeom prst="rect">
            <a:avLst/>
          </a:prstGeom>
        </p:spPr>
        <p:txBody>
          <a:bodyPr anchor="t" rtlCol="false" tIns="0" lIns="0" bIns="0" rIns="0">
            <a:spAutoFit/>
          </a:bodyPr>
          <a:lstStyle/>
          <a:p>
            <a:pPr algn="just">
              <a:lnSpc>
                <a:spcPts val="3266"/>
              </a:lnSpc>
            </a:pPr>
            <a:r>
              <a:rPr lang="en-US" b="true" sz="2000">
                <a:solidFill>
                  <a:srgbClr val="454240"/>
                </a:solidFill>
                <a:latin typeface="DM Sans Bold"/>
                <a:ea typeface="DM Sans Bold"/>
                <a:cs typeface="DM Sans Bold"/>
                <a:sym typeface="DM Sans Bold"/>
              </a:rPr>
              <a:t>Impact:</a:t>
            </a:r>
            <a:r>
              <a:rPr lang="en-US" sz="2000">
                <a:solidFill>
                  <a:srgbClr val="454240"/>
                </a:solidFill>
                <a:latin typeface="DM Sans"/>
                <a:ea typeface="DM Sans"/>
                <a:cs typeface="DM Sans"/>
                <a:sym typeface="DM Sans"/>
              </a:rPr>
              <a:t> Achieves a 10-15% reduction in ATM operational expenses, minimises cash-in-transit frequency, and enhances customer satisfaction through consistent availability.</a:t>
            </a:r>
          </a:p>
        </p:txBody>
      </p:sp>
      <p:sp>
        <p:nvSpPr>
          <p:cNvPr name="TextBox 19" id="19"/>
          <p:cNvSpPr txBox="true"/>
          <p:nvPr/>
        </p:nvSpPr>
        <p:spPr>
          <a:xfrm rot="0">
            <a:off x="880691" y="8049358"/>
            <a:ext cx="4553207" cy="1208942"/>
          </a:xfrm>
          <a:prstGeom prst="rect">
            <a:avLst/>
          </a:prstGeom>
        </p:spPr>
        <p:txBody>
          <a:bodyPr anchor="t" rtlCol="false" tIns="0" lIns="0" bIns="0" rIns="0">
            <a:spAutoFit/>
          </a:bodyPr>
          <a:lstStyle/>
          <a:p>
            <a:pPr algn="just">
              <a:lnSpc>
                <a:spcPts val="3230"/>
              </a:lnSpc>
            </a:pPr>
            <a:r>
              <a:rPr lang="en-US" sz="2000" b="true">
                <a:solidFill>
                  <a:srgbClr val="454240"/>
                </a:solidFill>
                <a:latin typeface="DM Sans Bold"/>
                <a:ea typeface="DM Sans Bold"/>
                <a:cs typeface="DM Sans Bold"/>
                <a:sym typeface="DM Sans Bold"/>
              </a:rPr>
              <a:t>Result</a:t>
            </a:r>
            <a:r>
              <a:rPr lang="en-US" sz="2000" b="true">
                <a:solidFill>
                  <a:srgbClr val="454240"/>
                </a:solidFill>
                <a:latin typeface="DM Sans Bold"/>
                <a:ea typeface="DM Sans Bold"/>
                <a:cs typeface="DM Sans Bold"/>
                <a:sym typeface="DM Sans Bold"/>
              </a:rPr>
              <a:t>: </a:t>
            </a:r>
            <a:r>
              <a:rPr lang="en-US" sz="2000">
                <a:solidFill>
                  <a:srgbClr val="454240"/>
                </a:solidFill>
                <a:latin typeface="DM Sans"/>
                <a:ea typeface="DM Sans"/>
                <a:cs typeface="DM Sans"/>
                <a:sym typeface="DM Sans"/>
              </a:rPr>
              <a:t>Created 4–5 customer groups (e.g., “High-Value Loyal,” “Credit-Heavy Risk,” “Digital Engager”).</a:t>
            </a:r>
          </a:p>
        </p:txBody>
      </p:sp>
      <p:sp>
        <p:nvSpPr>
          <p:cNvPr name="TextBox 20" id="20"/>
          <p:cNvSpPr txBox="true"/>
          <p:nvPr/>
        </p:nvSpPr>
        <p:spPr>
          <a:xfrm rot="0">
            <a:off x="6014922" y="8524386"/>
            <a:ext cx="4684723" cy="799367"/>
          </a:xfrm>
          <a:prstGeom prst="rect">
            <a:avLst/>
          </a:prstGeom>
        </p:spPr>
        <p:txBody>
          <a:bodyPr anchor="t" rtlCol="false" tIns="0" lIns="0" bIns="0" rIns="0">
            <a:spAutoFit/>
          </a:bodyPr>
          <a:lstStyle/>
          <a:p>
            <a:pPr algn="just">
              <a:lnSpc>
                <a:spcPts val="3230"/>
              </a:lnSpc>
            </a:pPr>
            <a:r>
              <a:rPr lang="en-US" sz="2000" b="true">
                <a:solidFill>
                  <a:srgbClr val="454240"/>
                </a:solidFill>
                <a:latin typeface="DM Sans Bold"/>
                <a:ea typeface="DM Sans Bold"/>
                <a:cs typeface="DM Sans Bold"/>
                <a:sym typeface="DM Sans Bold"/>
              </a:rPr>
              <a:t>Result</a:t>
            </a:r>
            <a:r>
              <a:rPr lang="en-US" sz="2000" b="true">
                <a:solidFill>
                  <a:srgbClr val="454240"/>
                </a:solidFill>
                <a:latin typeface="DM Sans Bold"/>
                <a:ea typeface="DM Sans Bold"/>
                <a:cs typeface="DM Sans Bold"/>
                <a:sym typeface="DM Sans Bold"/>
              </a:rPr>
              <a:t>: </a:t>
            </a:r>
            <a:r>
              <a:rPr lang="en-US" sz="2000">
                <a:solidFill>
                  <a:srgbClr val="454240"/>
                </a:solidFill>
                <a:latin typeface="DM Sans"/>
                <a:ea typeface="DM Sans"/>
                <a:cs typeface="DM Sans"/>
                <a:sym typeface="DM Sans"/>
              </a:rPr>
              <a:t>Model gives each customer a churn probability score.</a:t>
            </a:r>
          </a:p>
        </p:txBody>
      </p:sp>
      <p:sp>
        <p:nvSpPr>
          <p:cNvPr name="TextBox 21" id="21"/>
          <p:cNvSpPr txBox="true"/>
          <p:nvPr/>
        </p:nvSpPr>
        <p:spPr>
          <a:xfrm rot="0">
            <a:off x="11484075" y="9172575"/>
            <a:ext cx="5775225" cy="799367"/>
          </a:xfrm>
          <a:prstGeom prst="rect">
            <a:avLst/>
          </a:prstGeom>
        </p:spPr>
        <p:txBody>
          <a:bodyPr anchor="t" rtlCol="false" tIns="0" lIns="0" bIns="0" rIns="0">
            <a:spAutoFit/>
          </a:bodyPr>
          <a:lstStyle/>
          <a:p>
            <a:pPr algn="just">
              <a:lnSpc>
                <a:spcPts val="3230"/>
              </a:lnSpc>
            </a:pPr>
            <a:r>
              <a:rPr lang="en-US" sz="2000" b="true">
                <a:solidFill>
                  <a:srgbClr val="454240"/>
                </a:solidFill>
                <a:latin typeface="DM Sans Bold"/>
                <a:ea typeface="DM Sans Bold"/>
                <a:cs typeface="DM Sans Bold"/>
                <a:sym typeface="DM Sans Bold"/>
              </a:rPr>
              <a:t>Result</a:t>
            </a:r>
            <a:r>
              <a:rPr lang="en-US" sz="2000" b="true">
                <a:solidFill>
                  <a:srgbClr val="454240"/>
                </a:solidFill>
                <a:latin typeface="DM Sans Bold"/>
                <a:ea typeface="DM Sans Bold"/>
                <a:cs typeface="DM Sans Bold"/>
                <a:sym typeface="DM Sans Bold"/>
              </a:rPr>
              <a:t>: </a:t>
            </a:r>
            <a:r>
              <a:rPr lang="en-US" sz="2000">
                <a:solidFill>
                  <a:srgbClr val="454240"/>
                </a:solidFill>
                <a:latin typeface="DM Sans"/>
                <a:ea typeface="DM Sans"/>
                <a:cs typeface="DM Sans"/>
                <a:sym typeface="DM Sans"/>
              </a:rPr>
              <a:t>Accurate 7-day cash demand forecast for each ATM.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44861"/>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FA"/>
            </a:solidFill>
          </p:spPr>
        </p:sp>
      </p:grpSp>
      <p:sp>
        <p:nvSpPr>
          <p:cNvPr name="Freeform 6" id="6"/>
          <p:cNvSpPr/>
          <p:nvPr/>
        </p:nvSpPr>
        <p:spPr>
          <a:xfrm flipH="false" flipV="false" rot="0">
            <a:off x="11205864" y="2741337"/>
            <a:ext cx="6716860" cy="6716860"/>
          </a:xfrm>
          <a:custGeom>
            <a:avLst/>
            <a:gdLst/>
            <a:ahLst/>
            <a:cxnLst/>
            <a:rect r="r" b="b" t="t" l="l"/>
            <a:pathLst>
              <a:path h="6716860" w="6716860">
                <a:moveTo>
                  <a:pt x="0" y="0"/>
                </a:moveTo>
                <a:lnTo>
                  <a:pt x="6716859" y="0"/>
                </a:lnTo>
                <a:lnTo>
                  <a:pt x="6716859" y="6716860"/>
                </a:lnTo>
                <a:lnTo>
                  <a:pt x="0" y="6716860"/>
                </a:lnTo>
                <a:lnTo>
                  <a:pt x="0" y="0"/>
                </a:lnTo>
                <a:close/>
              </a:path>
            </a:pathLst>
          </a:custGeom>
          <a:blipFill>
            <a:blip r:embed="rId3"/>
            <a:stretch>
              <a:fillRect l="0" t="0" r="0" b="0"/>
            </a:stretch>
          </a:blipFill>
        </p:spPr>
      </p:sp>
      <p:sp>
        <p:nvSpPr>
          <p:cNvPr name="TextBox 7" id="7"/>
          <p:cNvSpPr txBox="true"/>
          <p:nvPr/>
        </p:nvSpPr>
        <p:spPr>
          <a:xfrm rot="0">
            <a:off x="795635" y="610492"/>
            <a:ext cx="17057698" cy="1566214"/>
          </a:xfrm>
          <a:prstGeom prst="rect">
            <a:avLst/>
          </a:prstGeom>
        </p:spPr>
        <p:txBody>
          <a:bodyPr anchor="t" rtlCol="false" tIns="0" lIns="0" bIns="0" rIns="0">
            <a:spAutoFit/>
          </a:bodyPr>
          <a:lstStyle/>
          <a:p>
            <a:pPr algn="l">
              <a:lnSpc>
                <a:spcPts val="6267"/>
              </a:lnSpc>
            </a:pPr>
            <a:r>
              <a:rPr lang="en-US" sz="5000">
                <a:solidFill>
                  <a:srgbClr val="000000"/>
                </a:solidFill>
                <a:latin typeface="Libre Baskerville"/>
                <a:ea typeface="Libre Baskerville"/>
                <a:cs typeface="Libre Baskerville"/>
                <a:sym typeface="Libre Baskerville"/>
              </a:rPr>
              <a:t>Minimising Financial Loss Through Advanced Fraud Detection</a:t>
            </a:r>
          </a:p>
        </p:txBody>
      </p:sp>
      <p:sp>
        <p:nvSpPr>
          <p:cNvPr name="TextBox 8" id="8"/>
          <p:cNvSpPr txBox="true"/>
          <p:nvPr/>
        </p:nvSpPr>
        <p:spPr>
          <a:xfrm rot="0">
            <a:off x="795635" y="4464546"/>
            <a:ext cx="4642097" cy="1182461"/>
          </a:xfrm>
          <a:prstGeom prst="rect">
            <a:avLst/>
          </a:prstGeom>
        </p:spPr>
        <p:txBody>
          <a:bodyPr anchor="t" rtlCol="false" tIns="0" lIns="0" bIns="0" rIns="0">
            <a:spAutoFit/>
          </a:bodyPr>
          <a:lstStyle/>
          <a:p>
            <a:pPr algn="just">
              <a:lnSpc>
                <a:spcPts val="3214"/>
              </a:lnSpc>
            </a:pPr>
            <a:r>
              <a:rPr lang="en-US" b="true" sz="2000">
                <a:solidFill>
                  <a:srgbClr val="454240"/>
                </a:solidFill>
                <a:latin typeface="DM Sans Bold"/>
                <a:ea typeface="DM Sans Bold"/>
                <a:cs typeface="DM Sans Bold"/>
                <a:sym typeface="DM Sans Bold"/>
              </a:rPr>
              <a:t>Challenge:</a:t>
            </a:r>
            <a:r>
              <a:rPr lang="en-US" sz="2000">
                <a:solidFill>
                  <a:srgbClr val="454240"/>
                </a:solidFill>
                <a:latin typeface="DM Sans"/>
                <a:ea typeface="DM Sans"/>
                <a:cs typeface="DM Sans"/>
                <a:sym typeface="DM Sans"/>
              </a:rPr>
              <a:t> Fraudulent transactions erode customer trust and generate millions in losses annually</a:t>
            </a:r>
          </a:p>
        </p:txBody>
      </p:sp>
      <p:sp>
        <p:nvSpPr>
          <p:cNvPr name="TextBox 9" id="9"/>
          <p:cNvSpPr txBox="true"/>
          <p:nvPr/>
        </p:nvSpPr>
        <p:spPr>
          <a:xfrm rot="0">
            <a:off x="795635" y="5801002"/>
            <a:ext cx="4642097" cy="1182461"/>
          </a:xfrm>
          <a:prstGeom prst="rect">
            <a:avLst/>
          </a:prstGeom>
        </p:spPr>
        <p:txBody>
          <a:bodyPr anchor="t" rtlCol="false" tIns="0" lIns="0" bIns="0" rIns="0">
            <a:spAutoFit/>
          </a:bodyPr>
          <a:lstStyle/>
          <a:p>
            <a:pPr algn="just">
              <a:lnSpc>
                <a:spcPts val="3214"/>
              </a:lnSpc>
            </a:pPr>
            <a:r>
              <a:rPr lang="en-US" b="true" sz="2000">
                <a:solidFill>
                  <a:srgbClr val="454240"/>
                </a:solidFill>
                <a:latin typeface="DM Sans Bold"/>
                <a:ea typeface="DM Sans Bold"/>
                <a:cs typeface="DM Sans Bold"/>
                <a:sym typeface="DM Sans Bold"/>
              </a:rPr>
              <a:t>Solution</a:t>
            </a:r>
            <a:r>
              <a:rPr lang="en-US" b="true" sz="2000">
                <a:solidFill>
                  <a:srgbClr val="454240"/>
                </a:solidFill>
                <a:latin typeface="DM Sans Bold"/>
                <a:ea typeface="DM Sans Bold"/>
                <a:cs typeface="DM Sans Bold"/>
                <a:sym typeface="DM Sans Bold"/>
              </a:rPr>
              <a:t>:</a:t>
            </a:r>
            <a:r>
              <a:rPr lang="en-US" sz="2000">
                <a:solidFill>
                  <a:srgbClr val="454240"/>
                </a:solidFill>
                <a:latin typeface="DM Sans"/>
                <a:ea typeface="DM Sans"/>
                <a:cs typeface="DM Sans"/>
                <a:sym typeface="DM Sans"/>
              </a:rPr>
              <a:t> Imbalanced classification techniques handle datasets where fraud represents just 0.2% of cases</a:t>
            </a:r>
          </a:p>
        </p:txBody>
      </p:sp>
      <p:sp>
        <p:nvSpPr>
          <p:cNvPr name="TextBox 10" id="10"/>
          <p:cNvSpPr txBox="true"/>
          <p:nvPr/>
        </p:nvSpPr>
        <p:spPr>
          <a:xfrm rot="0">
            <a:off x="795635" y="7231113"/>
            <a:ext cx="4642097" cy="782411"/>
          </a:xfrm>
          <a:prstGeom prst="rect">
            <a:avLst/>
          </a:prstGeom>
        </p:spPr>
        <p:txBody>
          <a:bodyPr anchor="t" rtlCol="false" tIns="0" lIns="0" bIns="0" rIns="0">
            <a:spAutoFit/>
          </a:bodyPr>
          <a:lstStyle/>
          <a:p>
            <a:pPr algn="just">
              <a:lnSpc>
                <a:spcPts val="3214"/>
              </a:lnSpc>
            </a:pPr>
            <a:r>
              <a:rPr lang="en-US" b="true" sz="2000">
                <a:solidFill>
                  <a:srgbClr val="454240"/>
                </a:solidFill>
                <a:latin typeface="DM Sans Bold"/>
                <a:ea typeface="DM Sans Bold"/>
                <a:cs typeface="DM Sans Bold"/>
                <a:sym typeface="DM Sans Bold"/>
              </a:rPr>
              <a:t>Impact</a:t>
            </a:r>
            <a:r>
              <a:rPr lang="en-US" b="true" sz="2000">
                <a:solidFill>
                  <a:srgbClr val="454240"/>
                </a:solidFill>
                <a:latin typeface="DM Sans Bold"/>
                <a:ea typeface="DM Sans Bold"/>
                <a:cs typeface="DM Sans Bold"/>
                <a:sym typeface="DM Sans Bold"/>
              </a:rPr>
              <a:t>:</a:t>
            </a:r>
            <a:r>
              <a:rPr lang="en-US" sz="2000">
                <a:solidFill>
                  <a:srgbClr val="454240"/>
                </a:solidFill>
                <a:latin typeface="DM Sans"/>
                <a:ea typeface="DM Sans"/>
                <a:cs typeface="DM Sans"/>
                <a:sym typeface="DM Sans"/>
              </a:rPr>
              <a:t> Reduces chargeback losses and increases customer trust.</a:t>
            </a:r>
          </a:p>
        </p:txBody>
      </p:sp>
      <p:sp>
        <p:nvSpPr>
          <p:cNvPr name="TextBox 11" id="11"/>
          <p:cNvSpPr txBox="true"/>
          <p:nvPr/>
        </p:nvSpPr>
        <p:spPr>
          <a:xfrm rot="0">
            <a:off x="795635" y="8261173"/>
            <a:ext cx="4642097" cy="782411"/>
          </a:xfrm>
          <a:prstGeom prst="rect">
            <a:avLst/>
          </a:prstGeom>
        </p:spPr>
        <p:txBody>
          <a:bodyPr anchor="t" rtlCol="false" tIns="0" lIns="0" bIns="0" rIns="0">
            <a:spAutoFit/>
          </a:bodyPr>
          <a:lstStyle/>
          <a:p>
            <a:pPr algn="just">
              <a:lnSpc>
                <a:spcPts val="3214"/>
              </a:lnSpc>
            </a:pPr>
            <a:r>
              <a:rPr lang="en-US" b="true" sz="2000">
                <a:solidFill>
                  <a:srgbClr val="454240"/>
                </a:solidFill>
                <a:latin typeface="DM Sans Bold"/>
                <a:ea typeface="DM Sans Bold"/>
                <a:cs typeface="DM Sans Bold"/>
                <a:sym typeface="DM Sans Bold"/>
              </a:rPr>
              <a:t>Result:</a:t>
            </a:r>
            <a:r>
              <a:rPr lang="en-US" sz="2000">
                <a:solidFill>
                  <a:srgbClr val="454240"/>
                </a:solidFill>
                <a:latin typeface="DM Sans"/>
                <a:ea typeface="DM Sans"/>
                <a:cs typeface="DM Sans"/>
                <a:sym typeface="DM Sans"/>
              </a:rPr>
              <a:t>  Real-time model that predicts fraud before payment is processed.</a:t>
            </a:r>
          </a:p>
        </p:txBody>
      </p:sp>
      <p:sp>
        <p:nvSpPr>
          <p:cNvPr name="TextBox 12" id="12"/>
          <p:cNvSpPr txBox="true"/>
          <p:nvPr/>
        </p:nvSpPr>
        <p:spPr>
          <a:xfrm rot="0">
            <a:off x="6001791" y="2702938"/>
            <a:ext cx="4120639" cy="1292528"/>
          </a:xfrm>
          <a:prstGeom prst="rect">
            <a:avLst/>
          </a:prstGeom>
        </p:spPr>
        <p:txBody>
          <a:bodyPr anchor="t" rtlCol="false" tIns="0" lIns="0" bIns="0" rIns="0">
            <a:spAutoFit/>
          </a:bodyPr>
          <a:lstStyle/>
          <a:p>
            <a:pPr algn="ctr">
              <a:lnSpc>
                <a:spcPts val="5047"/>
              </a:lnSpc>
            </a:pPr>
            <a:r>
              <a:rPr lang="en-US" b="true" sz="3999">
                <a:solidFill>
                  <a:srgbClr val="454240"/>
                </a:solidFill>
                <a:latin typeface="Times New Roman Bold"/>
                <a:ea typeface="Times New Roman Bold"/>
                <a:cs typeface="Times New Roman Bold"/>
                <a:sym typeface="Times New Roman Bold"/>
              </a:rPr>
              <a:t>Loan Fraud Prediction</a:t>
            </a:r>
          </a:p>
        </p:txBody>
      </p:sp>
      <p:sp>
        <p:nvSpPr>
          <p:cNvPr name="TextBox 13" id="13"/>
          <p:cNvSpPr txBox="true"/>
          <p:nvPr/>
        </p:nvSpPr>
        <p:spPr>
          <a:xfrm rot="0">
            <a:off x="6001791" y="4483596"/>
            <a:ext cx="4642098" cy="1182461"/>
          </a:xfrm>
          <a:prstGeom prst="rect">
            <a:avLst/>
          </a:prstGeom>
        </p:spPr>
        <p:txBody>
          <a:bodyPr anchor="t" rtlCol="false" tIns="0" lIns="0" bIns="0" rIns="0">
            <a:spAutoFit/>
          </a:bodyPr>
          <a:lstStyle/>
          <a:p>
            <a:pPr algn="just">
              <a:lnSpc>
                <a:spcPts val="3214"/>
              </a:lnSpc>
            </a:pPr>
            <a:r>
              <a:rPr lang="en-US" b="true" sz="2000">
                <a:solidFill>
                  <a:srgbClr val="454240"/>
                </a:solidFill>
                <a:latin typeface="DM Sans Bold"/>
                <a:ea typeface="DM Sans Bold"/>
                <a:cs typeface="DM Sans Bold"/>
                <a:sym typeface="DM Sans Bold"/>
              </a:rPr>
              <a:t>Challenge:</a:t>
            </a:r>
            <a:r>
              <a:rPr lang="en-US" sz="2000">
                <a:solidFill>
                  <a:srgbClr val="454240"/>
                </a:solidFill>
                <a:latin typeface="DM Sans"/>
                <a:ea typeface="DM Sans"/>
                <a:cs typeface="DM Sans"/>
                <a:sym typeface="DM Sans"/>
              </a:rPr>
              <a:t> Fraudulent loan applications lead to substantial bad debt write-offs</a:t>
            </a:r>
          </a:p>
        </p:txBody>
      </p:sp>
      <p:sp>
        <p:nvSpPr>
          <p:cNvPr name="TextBox 14" id="14"/>
          <p:cNvSpPr txBox="true"/>
          <p:nvPr/>
        </p:nvSpPr>
        <p:spPr>
          <a:xfrm rot="0">
            <a:off x="6001791" y="5801002"/>
            <a:ext cx="4642098" cy="1182461"/>
          </a:xfrm>
          <a:prstGeom prst="rect">
            <a:avLst/>
          </a:prstGeom>
        </p:spPr>
        <p:txBody>
          <a:bodyPr anchor="t" rtlCol="false" tIns="0" lIns="0" bIns="0" rIns="0">
            <a:spAutoFit/>
          </a:bodyPr>
          <a:lstStyle/>
          <a:p>
            <a:pPr algn="just">
              <a:lnSpc>
                <a:spcPts val="3214"/>
              </a:lnSpc>
            </a:pPr>
            <a:r>
              <a:rPr lang="en-US" b="true" sz="2000">
                <a:solidFill>
                  <a:srgbClr val="454240"/>
                </a:solidFill>
                <a:latin typeface="DM Sans Bold"/>
                <a:ea typeface="DM Sans Bold"/>
                <a:cs typeface="DM Sans Bold"/>
                <a:sym typeface="DM Sans Bold"/>
              </a:rPr>
              <a:t>Solution</a:t>
            </a:r>
            <a:r>
              <a:rPr lang="en-US" b="true" sz="2000">
                <a:solidFill>
                  <a:srgbClr val="454240"/>
                </a:solidFill>
                <a:latin typeface="DM Sans Bold"/>
                <a:ea typeface="DM Sans Bold"/>
                <a:cs typeface="DM Sans Bold"/>
                <a:sym typeface="DM Sans Bold"/>
              </a:rPr>
              <a:t>:</a:t>
            </a:r>
            <a:r>
              <a:rPr lang="en-US" sz="2000">
                <a:solidFill>
                  <a:srgbClr val="454240"/>
                </a:solidFill>
                <a:latin typeface="DM Sans"/>
                <a:ea typeface="DM Sans"/>
                <a:cs typeface="DM Sans"/>
                <a:sym typeface="DM Sans"/>
              </a:rPr>
              <a:t> Predictive models evaluate applicant demographics, credit history, and employment verification</a:t>
            </a:r>
          </a:p>
        </p:txBody>
      </p:sp>
      <p:sp>
        <p:nvSpPr>
          <p:cNvPr name="TextBox 15" id="15"/>
          <p:cNvSpPr txBox="true"/>
          <p:nvPr/>
        </p:nvSpPr>
        <p:spPr>
          <a:xfrm rot="0">
            <a:off x="6001791" y="7231113"/>
            <a:ext cx="4642098" cy="782411"/>
          </a:xfrm>
          <a:prstGeom prst="rect">
            <a:avLst/>
          </a:prstGeom>
        </p:spPr>
        <p:txBody>
          <a:bodyPr anchor="t" rtlCol="false" tIns="0" lIns="0" bIns="0" rIns="0">
            <a:spAutoFit/>
          </a:bodyPr>
          <a:lstStyle/>
          <a:p>
            <a:pPr algn="just">
              <a:lnSpc>
                <a:spcPts val="3214"/>
              </a:lnSpc>
            </a:pPr>
            <a:r>
              <a:rPr lang="en-US" b="true" sz="2000">
                <a:solidFill>
                  <a:srgbClr val="454240"/>
                </a:solidFill>
                <a:latin typeface="DM Sans Bold"/>
                <a:ea typeface="DM Sans Bold"/>
                <a:cs typeface="DM Sans Bold"/>
                <a:sym typeface="DM Sans Bold"/>
              </a:rPr>
              <a:t>Impact</a:t>
            </a:r>
            <a:r>
              <a:rPr lang="en-US" b="true" sz="2000">
                <a:solidFill>
                  <a:srgbClr val="454240"/>
                </a:solidFill>
                <a:latin typeface="DM Sans Bold"/>
                <a:ea typeface="DM Sans Bold"/>
                <a:cs typeface="DM Sans Bold"/>
                <a:sym typeface="DM Sans Bold"/>
              </a:rPr>
              <a:t>:</a:t>
            </a:r>
            <a:r>
              <a:rPr lang="en-US" sz="2000">
                <a:solidFill>
                  <a:srgbClr val="454240"/>
                </a:solidFill>
                <a:latin typeface="DM Sans"/>
                <a:ea typeface="DM Sans"/>
                <a:cs typeface="DM Sans"/>
                <a:sym typeface="DM Sans"/>
              </a:rPr>
              <a:t> 90–93% detection rate for fraudulent applications</a:t>
            </a:r>
          </a:p>
        </p:txBody>
      </p:sp>
      <p:sp>
        <p:nvSpPr>
          <p:cNvPr name="TextBox 16" id="16"/>
          <p:cNvSpPr txBox="true"/>
          <p:nvPr/>
        </p:nvSpPr>
        <p:spPr>
          <a:xfrm rot="0">
            <a:off x="6001791" y="8261173"/>
            <a:ext cx="4642098" cy="782411"/>
          </a:xfrm>
          <a:prstGeom prst="rect">
            <a:avLst/>
          </a:prstGeom>
        </p:spPr>
        <p:txBody>
          <a:bodyPr anchor="t" rtlCol="false" tIns="0" lIns="0" bIns="0" rIns="0">
            <a:spAutoFit/>
          </a:bodyPr>
          <a:lstStyle/>
          <a:p>
            <a:pPr algn="just">
              <a:lnSpc>
                <a:spcPts val="3214"/>
              </a:lnSpc>
            </a:pPr>
            <a:r>
              <a:rPr lang="en-US" b="true" sz="2000">
                <a:solidFill>
                  <a:srgbClr val="454240"/>
                </a:solidFill>
                <a:latin typeface="DM Sans Bold"/>
                <a:ea typeface="DM Sans Bold"/>
                <a:cs typeface="DM Sans Bold"/>
                <a:sym typeface="DM Sans Bold"/>
              </a:rPr>
              <a:t>Result: </a:t>
            </a:r>
            <a:r>
              <a:rPr lang="en-US" sz="2000">
                <a:solidFill>
                  <a:srgbClr val="454240"/>
                </a:solidFill>
                <a:latin typeface="DM Sans"/>
                <a:ea typeface="DM Sans"/>
                <a:cs typeface="DM Sans"/>
                <a:sym typeface="DM Sans"/>
              </a:rPr>
              <a:t>Model accuracy of 90–93% in identifying fraudulent applications.</a:t>
            </a:r>
          </a:p>
        </p:txBody>
      </p:sp>
      <p:sp>
        <p:nvSpPr>
          <p:cNvPr name="TextBox 17" id="17"/>
          <p:cNvSpPr txBox="true"/>
          <p:nvPr/>
        </p:nvSpPr>
        <p:spPr>
          <a:xfrm rot="0">
            <a:off x="795635" y="2693712"/>
            <a:ext cx="4642097" cy="1292528"/>
          </a:xfrm>
          <a:prstGeom prst="rect">
            <a:avLst/>
          </a:prstGeom>
        </p:spPr>
        <p:txBody>
          <a:bodyPr anchor="t" rtlCol="false" tIns="0" lIns="0" bIns="0" rIns="0">
            <a:spAutoFit/>
          </a:bodyPr>
          <a:lstStyle/>
          <a:p>
            <a:pPr algn="ctr">
              <a:lnSpc>
                <a:spcPts val="5047"/>
              </a:lnSpc>
            </a:pPr>
            <a:r>
              <a:rPr lang="en-US" b="true" sz="3999">
                <a:solidFill>
                  <a:srgbClr val="454240"/>
                </a:solidFill>
                <a:latin typeface="Times New Roman Bold"/>
                <a:ea typeface="Times New Roman Bold"/>
                <a:cs typeface="Times New Roman Bold"/>
                <a:sym typeface="Times New Roman Bold"/>
              </a:rPr>
              <a:t>Credit Card Fraud Detection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FA"/>
            </a:solidFill>
          </p:spPr>
        </p:sp>
      </p:grpSp>
      <p:sp>
        <p:nvSpPr>
          <p:cNvPr name="TextBox 6" id="6"/>
          <p:cNvSpPr txBox="true"/>
          <p:nvPr/>
        </p:nvSpPr>
        <p:spPr>
          <a:xfrm rot="0">
            <a:off x="3528296" y="811122"/>
            <a:ext cx="11401225" cy="775355"/>
          </a:xfrm>
          <a:prstGeom prst="rect">
            <a:avLst/>
          </a:prstGeom>
        </p:spPr>
        <p:txBody>
          <a:bodyPr anchor="t" rtlCol="false" tIns="0" lIns="0" bIns="0" rIns="0">
            <a:spAutoFit/>
          </a:bodyPr>
          <a:lstStyle/>
          <a:p>
            <a:pPr algn="l">
              <a:lnSpc>
                <a:spcPts val="6269"/>
              </a:lnSpc>
            </a:pPr>
            <a:r>
              <a:rPr lang="en-US" sz="5000">
                <a:solidFill>
                  <a:srgbClr val="000000"/>
                </a:solidFill>
                <a:latin typeface="Libre Baskerville"/>
                <a:ea typeface="Libre Baskerville"/>
                <a:cs typeface="Libre Baskerville"/>
                <a:sym typeface="Libre Baskerville"/>
              </a:rPr>
              <a:t>K</a:t>
            </a:r>
            <a:r>
              <a:rPr lang="en-US" sz="5000">
                <a:solidFill>
                  <a:srgbClr val="000000"/>
                </a:solidFill>
                <a:latin typeface="Libre Baskerville"/>
                <a:ea typeface="Libre Baskerville"/>
                <a:cs typeface="Libre Baskerville"/>
                <a:sym typeface="Libre Baskerville"/>
              </a:rPr>
              <a:t>ey Outcomes &amp; Strategic Impact</a:t>
            </a:r>
          </a:p>
        </p:txBody>
      </p:sp>
      <p:sp>
        <p:nvSpPr>
          <p:cNvPr name="TextBox 7" id="7"/>
          <p:cNvSpPr txBox="true"/>
          <p:nvPr/>
        </p:nvSpPr>
        <p:spPr>
          <a:xfrm rot="0">
            <a:off x="705445" y="2357586"/>
            <a:ext cx="3766542" cy="1416152"/>
          </a:xfrm>
          <a:prstGeom prst="rect">
            <a:avLst/>
          </a:prstGeom>
        </p:spPr>
        <p:txBody>
          <a:bodyPr anchor="t" rtlCol="false" tIns="0" lIns="0" bIns="0" rIns="0">
            <a:spAutoFit/>
          </a:bodyPr>
          <a:lstStyle/>
          <a:p>
            <a:pPr algn="ctr">
              <a:lnSpc>
                <a:spcPts val="3774"/>
              </a:lnSpc>
            </a:pPr>
            <a:r>
              <a:rPr lang="en-US" sz="3000" b="true">
                <a:solidFill>
                  <a:srgbClr val="454240"/>
                </a:solidFill>
                <a:latin typeface="Libre Baskerville Bold"/>
                <a:ea typeface="Libre Baskerville Bold"/>
                <a:cs typeface="Libre Baskerville Bold"/>
                <a:sym typeface="Libre Baskerville Bold"/>
              </a:rPr>
              <a:t>Digital Transaction Growth</a:t>
            </a:r>
          </a:p>
        </p:txBody>
      </p:sp>
      <p:sp>
        <p:nvSpPr>
          <p:cNvPr name="TextBox 8" id="8"/>
          <p:cNvSpPr txBox="true"/>
          <p:nvPr/>
        </p:nvSpPr>
        <p:spPr>
          <a:xfrm rot="0">
            <a:off x="705445" y="4172335"/>
            <a:ext cx="4030266" cy="1184275"/>
          </a:xfrm>
          <a:prstGeom prst="rect">
            <a:avLst/>
          </a:prstGeom>
        </p:spPr>
        <p:txBody>
          <a:bodyPr anchor="t" rtlCol="false" tIns="0" lIns="0" bIns="0" rIns="0">
            <a:spAutoFit/>
          </a:bodyPr>
          <a:lstStyle/>
          <a:p>
            <a:pPr algn="ctr">
              <a:lnSpc>
                <a:spcPts val="3200"/>
              </a:lnSpc>
            </a:pPr>
            <a:r>
              <a:rPr lang="en-US" sz="2000">
                <a:solidFill>
                  <a:srgbClr val="454240"/>
                </a:solidFill>
                <a:latin typeface="DM Sans"/>
                <a:ea typeface="DM Sans"/>
                <a:cs typeface="DM Sans"/>
                <a:sym typeface="DM Sans"/>
              </a:rPr>
              <a:t>Increase in digital transactions through personalised customer segmentation.</a:t>
            </a:r>
          </a:p>
        </p:txBody>
      </p:sp>
      <p:sp>
        <p:nvSpPr>
          <p:cNvPr name="TextBox 9" id="9"/>
          <p:cNvSpPr txBox="true"/>
          <p:nvPr/>
        </p:nvSpPr>
        <p:spPr>
          <a:xfrm rot="0">
            <a:off x="4987677" y="2357586"/>
            <a:ext cx="4030266" cy="1416152"/>
          </a:xfrm>
          <a:prstGeom prst="rect">
            <a:avLst/>
          </a:prstGeom>
        </p:spPr>
        <p:txBody>
          <a:bodyPr anchor="t" rtlCol="false" tIns="0" lIns="0" bIns="0" rIns="0">
            <a:spAutoFit/>
          </a:bodyPr>
          <a:lstStyle/>
          <a:p>
            <a:pPr algn="ctr">
              <a:lnSpc>
                <a:spcPts val="3774"/>
              </a:lnSpc>
            </a:pPr>
            <a:r>
              <a:rPr lang="en-US" sz="3000" b="true">
                <a:solidFill>
                  <a:srgbClr val="454240"/>
                </a:solidFill>
                <a:latin typeface="Libre Baskerville Bold"/>
                <a:ea typeface="Libre Baskerville Bold"/>
                <a:cs typeface="Libre Baskerville Bold"/>
                <a:sym typeface="Libre Baskerville Bold"/>
              </a:rPr>
              <a:t>Enhanced Customer Lifetime Value</a:t>
            </a:r>
          </a:p>
        </p:txBody>
      </p:sp>
      <p:sp>
        <p:nvSpPr>
          <p:cNvPr name="TextBox 10" id="10"/>
          <p:cNvSpPr txBox="true"/>
          <p:nvPr/>
        </p:nvSpPr>
        <p:spPr>
          <a:xfrm rot="0">
            <a:off x="4987677" y="4238179"/>
            <a:ext cx="4030266" cy="1184275"/>
          </a:xfrm>
          <a:prstGeom prst="rect">
            <a:avLst/>
          </a:prstGeom>
        </p:spPr>
        <p:txBody>
          <a:bodyPr anchor="t" rtlCol="false" tIns="0" lIns="0" bIns="0" rIns="0">
            <a:spAutoFit/>
          </a:bodyPr>
          <a:lstStyle/>
          <a:p>
            <a:pPr algn="ctr">
              <a:lnSpc>
                <a:spcPts val="3200"/>
              </a:lnSpc>
            </a:pPr>
            <a:r>
              <a:rPr lang="en-US" sz="2000">
                <a:solidFill>
                  <a:srgbClr val="454240"/>
                </a:solidFill>
                <a:latin typeface="DM Sans"/>
                <a:ea typeface="DM Sans"/>
                <a:cs typeface="DM Sans"/>
                <a:sym typeface="DM Sans"/>
              </a:rPr>
              <a:t>Improved retention ROI and customer lifetime value through proactive churn prediction.</a:t>
            </a:r>
          </a:p>
        </p:txBody>
      </p:sp>
      <p:sp>
        <p:nvSpPr>
          <p:cNvPr name="TextBox 11" id="11"/>
          <p:cNvSpPr txBox="true"/>
          <p:nvPr/>
        </p:nvSpPr>
        <p:spPr>
          <a:xfrm rot="0">
            <a:off x="9866398" y="2357586"/>
            <a:ext cx="3324873" cy="1416152"/>
          </a:xfrm>
          <a:prstGeom prst="rect">
            <a:avLst/>
          </a:prstGeom>
        </p:spPr>
        <p:txBody>
          <a:bodyPr anchor="t" rtlCol="false" tIns="0" lIns="0" bIns="0" rIns="0">
            <a:spAutoFit/>
          </a:bodyPr>
          <a:lstStyle/>
          <a:p>
            <a:pPr algn="ctr">
              <a:lnSpc>
                <a:spcPts val="3774"/>
              </a:lnSpc>
            </a:pPr>
            <a:r>
              <a:rPr lang="en-US" sz="3000" b="true">
                <a:solidFill>
                  <a:srgbClr val="454240"/>
                </a:solidFill>
                <a:latin typeface="Libre Baskerville Bold"/>
                <a:ea typeface="Libre Baskerville Bold"/>
                <a:cs typeface="Libre Baskerville Bold"/>
                <a:sym typeface="Libre Baskerville Bold"/>
              </a:rPr>
              <a:t>Real Time </a:t>
            </a:r>
            <a:r>
              <a:rPr lang="en-US" sz="3000" b="true">
                <a:solidFill>
                  <a:srgbClr val="454240"/>
                </a:solidFill>
                <a:latin typeface="Libre Baskerville Bold"/>
                <a:ea typeface="Libre Baskerville Bold"/>
                <a:cs typeface="Libre Baskerville Bold"/>
                <a:sym typeface="Libre Baskerville Bold"/>
              </a:rPr>
              <a:t>Fraud Prevention</a:t>
            </a:r>
          </a:p>
        </p:txBody>
      </p:sp>
      <p:sp>
        <p:nvSpPr>
          <p:cNvPr name="TextBox 12" id="12"/>
          <p:cNvSpPr txBox="true"/>
          <p:nvPr/>
        </p:nvSpPr>
        <p:spPr>
          <a:xfrm rot="0">
            <a:off x="9513701" y="4302906"/>
            <a:ext cx="4030266" cy="1184275"/>
          </a:xfrm>
          <a:prstGeom prst="rect">
            <a:avLst/>
          </a:prstGeom>
        </p:spPr>
        <p:txBody>
          <a:bodyPr anchor="t" rtlCol="false" tIns="0" lIns="0" bIns="0" rIns="0">
            <a:spAutoFit/>
          </a:bodyPr>
          <a:lstStyle/>
          <a:p>
            <a:pPr algn="ctr">
              <a:lnSpc>
                <a:spcPts val="3200"/>
              </a:lnSpc>
            </a:pPr>
            <a:r>
              <a:rPr lang="en-US" sz="2000">
                <a:solidFill>
                  <a:srgbClr val="454240"/>
                </a:solidFill>
                <a:latin typeface="DM Sans"/>
                <a:ea typeface="DM Sans"/>
                <a:cs typeface="DM Sans"/>
                <a:sym typeface="DM Sans"/>
              </a:rPr>
              <a:t>Instantaneous detection and prevention of credit card fraud, reducing chargeback costs.</a:t>
            </a:r>
          </a:p>
        </p:txBody>
      </p:sp>
      <p:sp>
        <p:nvSpPr>
          <p:cNvPr name="TextBox 13" id="13"/>
          <p:cNvSpPr txBox="true"/>
          <p:nvPr/>
        </p:nvSpPr>
        <p:spPr>
          <a:xfrm rot="0">
            <a:off x="705445" y="6369696"/>
            <a:ext cx="4030266" cy="939902"/>
          </a:xfrm>
          <a:prstGeom prst="rect">
            <a:avLst/>
          </a:prstGeom>
        </p:spPr>
        <p:txBody>
          <a:bodyPr anchor="t" rtlCol="false" tIns="0" lIns="0" bIns="0" rIns="0">
            <a:spAutoFit/>
          </a:bodyPr>
          <a:lstStyle/>
          <a:p>
            <a:pPr algn="ctr">
              <a:lnSpc>
                <a:spcPts val="3774"/>
              </a:lnSpc>
            </a:pPr>
            <a:r>
              <a:rPr lang="en-US" sz="3000" b="true">
                <a:solidFill>
                  <a:srgbClr val="454240"/>
                </a:solidFill>
                <a:latin typeface="Libre Baskerville Bold"/>
                <a:ea typeface="Libre Baskerville Bold"/>
                <a:cs typeface="Libre Baskerville Bold"/>
                <a:sym typeface="Libre Baskerville Bold"/>
              </a:rPr>
              <a:t>Loan Fraud Detection Accuracy</a:t>
            </a:r>
          </a:p>
        </p:txBody>
      </p:sp>
      <p:sp>
        <p:nvSpPr>
          <p:cNvPr name="TextBox 14" id="14"/>
          <p:cNvSpPr txBox="true"/>
          <p:nvPr/>
        </p:nvSpPr>
        <p:spPr>
          <a:xfrm rot="0">
            <a:off x="705445" y="7929192"/>
            <a:ext cx="4030266" cy="1184275"/>
          </a:xfrm>
          <a:prstGeom prst="rect">
            <a:avLst/>
          </a:prstGeom>
        </p:spPr>
        <p:txBody>
          <a:bodyPr anchor="t" rtlCol="false" tIns="0" lIns="0" bIns="0" rIns="0">
            <a:spAutoFit/>
          </a:bodyPr>
          <a:lstStyle/>
          <a:p>
            <a:pPr algn="ctr">
              <a:lnSpc>
                <a:spcPts val="3200"/>
              </a:lnSpc>
            </a:pPr>
            <a:r>
              <a:rPr lang="en-US" sz="2000">
                <a:solidFill>
                  <a:srgbClr val="454240"/>
                </a:solidFill>
                <a:latin typeface="DM Sans"/>
                <a:ea typeface="DM Sans"/>
                <a:cs typeface="DM Sans"/>
                <a:sym typeface="DM Sans"/>
              </a:rPr>
              <a:t>High precision in identifying fraudulent loan applications at the point of submission.</a:t>
            </a:r>
          </a:p>
        </p:txBody>
      </p:sp>
      <p:sp>
        <p:nvSpPr>
          <p:cNvPr name="TextBox 15" id="15"/>
          <p:cNvSpPr txBox="true"/>
          <p:nvPr/>
        </p:nvSpPr>
        <p:spPr>
          <a:xfrm rot="0">
            <a:off x="5409606" y="6376839"/>
            <a:ext cx="3608338" cy="939902"/>
          </a:xfrm>
          <a:prstGeom prst="rect">
            <a:avLst/>
          </a:prstGeom>
        </p:spPr>
        <p:txBody>
          <a:bodyPr anchor="t" rtlCol="false" tIns="0" lIns="0" bIns="0" rIns="0">
            <a:spAutoFit/>
          </a:bodyPr>
          <a:lstStyle/>
          <a:p>
            <a:pPr algn="ctr">
              <a:lnSpc>
                <a:spcPts val="3774"/>
              </a:lnSpc>
            </a:pPr>
            <a:r>
              <a:rPr lang="en-US" sz="3000" b="true">
                <a:solidFill>
                  <a:srgbClr val="454240"/>
                </a:solidFill>
                <a:latin typeface="Libre Baskerville Bold"/>
                <a:ea typeface="Libre Baskerville Bold"/>
                <a:cs typeface="Libre Baskerville Bold"/>
                <a:sym typeface="Libre Baskerville Bold"/>
              </a:rPr>
              <a:t>Operational Cost Reduction</a:t>
            </a:r>
          </a:p>
        </p:txBody>
      </p:sp>
      <p:sp>
        <p:nvSpPr>
          <p:cNvPr name="TextBox 16" id="16"/>
          <p:cNvSpPr txBox="true"/>
          <p:nvPr/>
        </p:nvSpPr>
        <p:spPr>
          <a:xfrm rot="0">
            <a:off x="5198642" y="7929192"/>
            <a:ext cx="4030266" cy="1184275"/>
          </a:xfrm>
          <a:prstGeom prst="rect">
            <a:avLst/>
          </a:prstGeom>
        </p:spPr>
        <p:txBody>
          <a:bodyPr anchor="t" rtlCol="false" tIns="0" lIns="0" bIns="0" rIns="0">
            <a:spAutoFit/>
          </a:bodyPr>
          <a:lstStyle/>
          <a:p>
            <a:pPr algn="ctr">
              <a:lnSpc>
                <a:spcPts val="3200"/>
              </a:lnSpc>
            </a:pPr>
            <a:r>
              <a:rPr lang="en-US" sz="2000">
                <a:solidFill>
                  <a:srgbClr val="454240"/>
                </a:solidFill>
                <a:latin typeface="DM Sans"/>
                <a:ea typeface="DM Sans"/>
                <a:cs typeface="DM Sans"/>
                <a:sym typeface="DM Sans"/>
              </a:rPr>
              <a:t>Savings in ATM operational expenses through optimised cash demand forecasting.</a:t>
            </a:r>
          </a:p>
        </p:txBody>
      </p:sp>
      <p:sp>
        <p:nvSpPr>
          <p:cNvPr name="TextBox 17" id="17"/>
          <p:cNvSpPr txBox="true"/>
          <p:nvPr/>
        </p:nvSpPr>
        <p:spPr>
          <a:xfrm rot="0">
            <a:off x="9472761" y="6369696"/>
            <a:ext cx="3624411" cy="942975"/>
          </a:xfrm>
          <a:prstGeom prst="rect">
            <a:avLst/>
          </a:prstGeom>
        </p:spPr>
        <p:txBody>
          <a:bodyPr anchor="t" rtlCol="false" tIns="0" lIns="0" bIns="0" rIns="0">
            <a:spAutoFit/>
          </a:bodyPr>
          <a:lstStyle/>
          <a:p>
            <a:pPr algn="ctr">
              <a:lnSpc>
                <a:spcPts val="3750"/>
              </a:lnSpc>
            </a:pPr>
            <a:r>
              <a:rPr lang="en-US" sz="3000" b="true">
                <a:solidFill>
                  <a:srgbClr val="454240"/>
                </a:solidFill>
                <a:latin typeface="Libre Baskerville Bold"/>
                <a:ea typeface="Libre Baskerville Bold"/>
                <a:cs typeface="Libre Baskerville Bold"/>
                <a:sym typeface="Libre Baskerville Bold"/>
              </a:rPr>
              <a:t>Transaction Growth</a:t>
            </a:r>
          </a:p>
        </p:txBody>
      </p:sp>
      <p:sp>
        <p:nvSpPr>
          <p:cNvPr name="TextBox 18" id="18"/>
          <p:cNvSpPr txBox="true"/>
          <p:nvPr/>
        </p:nvSpPr>
        <p:spPr>
          <a:xfrm rot="0">
            <a:off x="9695633" y="7929192"/>
            <a:ext cx="3810149" cy="796018"/>
          </a:xfrm>
          <a:prstGeom prst="rect">
            <a:avLst/>
          </a:prstGeom>
        </p:spPr>
        <p:txBody>
          <a:bodyPr anchor="t" rtlCol="false" tIns="0" lIns="0" bIns="0" rIns="0">
            <a:spAutoFit/>
          </a:bodyPr>
          <a:lstStyle/>
          <a:p>
            <a:pPr algn="ctr">
              <a:lnSpc>
                <a:spcPts val="3257"/>
              </a:lnSpc>
            </a:pPr>
            <a:r>
              <a:rPr lang="en-US" sz="2000">
                <a:solidFill>
                  <a:srgbClr val="454240"/>
                </a:solidFill>
                <a:latin typeface="DM Sans"/>
                <a:ea typeface="DM Sans"/>
                <a:cs typeface="DM Sans"/>
                <a:sym typeface="DM Sans"/>
              </a:rPr>
              <a:t>Increase in digital transactions via personalised segmentation</a:t>
            </a:r>
          </a:p>
        </p:txBody>
      </p:sp>
      <p:sp>
        <p:nvSpPr>
          <p:cNvPr name="TextBox 19" id="19"/>
          <p:cNvSpPr txBox="true"/>
          <p:nvPr/>
        </p:nvSpPr>
        <p:spPr>
          <a:xfrm rot="0">
            <a:off x="14172703" y="6613428"/>
            <a:ext cx="3544044" cy="466725"/>
          </a:xfrm>
          <a:prstGeom prst="rect">
            <a:avLst/>
          </a:prstGeom>
        </p:spPr>
        <p:txBody>
          <a:bodyPr anchor="t" rtlCol="false" tIns="0" lIns="0" bIns="0" rIns="0">
            <a:spAutoFit/>
          </a:bodyPr>
          <a:lstStyle/>
          <a:p>
            <a:pPr algn="ctr">
              <a:lnSpc>
                <a:spcPts val="3750"/>
              </a:lnSpc>
            </a:pPr>
            <a:r>
              <a:rPr lang="en-US" sz="3000" b="true">
                <a:solidFill>
                  <a:srgbClr val="454240"/>
                </a:solidFill>
                <a:latin typeface="Libre Baskerville Bold"/>
                <a:ea typeface="Libre Baskerville Bold"/>
                <a:cs typeface="Libre Baskerville Bold"/>
                <a:sym typeface="Libre Baskerville Bold"/>
              </a:rPr>
              <a:t>Fraud Reduction</a:t>
            </a:r>
          </a:p>
        </p:txBody>
      </p:sp>
      <p:sp>
        <p:nvSpPr>
          <p:cNvPr name="TextBox 20" id="20"/>
          <p:cNvSpPr txBox="true"/>
          <p:nvPr/>
        </p:nvSpPr>
        <p:spPr>
          <a:xfrm rot="0">
            <a:off x="13906746" y="7929192"/>
            <a:ext cx="3810000" cy="796018"/>
          </a:xfrm>
          <a:prstGeom prst="rect">
            <a:avLst/>
          </a:prstGeom>
        </p:spPr>
        <p:txBody>
          <a:bodyPr anchor="t" rtlCol="false" tIns="0" lIns="0" bIns="0" rIns="0">
            <a:spAutoFit/>
          </a:bodyPr>
          <a:lstStyle/>
          <a:p>
            <a:pPr algn="ctr">
              <a:lnSpc>
                <a:spcPts val="3257"/>
              </a:lnSpc>
            </a:pPr>
            <a:r>
              <a:rPr lang="en-US" sz="2000">
                <a:solidFill>
                  <a:srgbClr val="454240"/>
                </a:solidFill>
                <a:latin typeface="DM Sans"/>
                <a:ea typeface="DM Sans"/>
                <a:cs typeface="DM Sans"/>
                <a:sym typeface="DM Sans"/>
              </a:rPr>
              <a:t>Decrease in fraudulent loans through predictive modelling</a:t>
            </a:r>
          </a:p>
        </p:txBody>
      </p:sp>
      <p:sp>
        <p:nvSpPr>
          <p:cNvPr name="TextBox 21" id="21"/>
          <p:cNvSpPr txBox="true"/>
          <p:nvPr/>
        </p:nvSpPr>
        <p:spPr>
          <a:xfrm rot="0">
            <a:off x="14038995" y="2832300"/>
            <a:ext cx="3544044" cy="466725"/>
          </a:xfrm>
          <a:prstGeom prst="rect">
            <a:avLst/>
          </a:prstGeom>
        </p:spPr>
        <p:txBody>
          <a:bodyPr anchor="t" rtlCol="false" tIns="0" lIns="0" bIns="0" rIns="0">
            <a:spAutoFit/>
          </a:bodyPr>
          <a:lstStyle/>
          <a:p>
            <a:pPr algn="ctr">
              <a:lnSpc>
                <a:spcPts val="3750"/>
              </a:lnSpc>
            </a:pPr>
            <a:r>
              <a:rPr lang="en-US" sz="3000" b="true">
                <a:solidFill>
                  <a:srgbClr val="454240"/>
                </a:solidFill>
                <a:latin typeface="Libre Baskerville Bold"/>
                <a:ea typeface="Libre Baskerville Bold"/>
                <a:cs typeface="Libre Baskerville Bold"/>
                <a:sym typeface="Libre Baskerville Bold"/>
              </a:rPr>
              <a:t>Cost Savings</a:t>
            </a:r>
          </a:p>
        </p:txBody>
      </p:sp>
      <p:sp>
        <p:nvSpPr>
          <p:cNvPr name="TextBox 22" id="22"/>
          <p:cNvSpPr txBox="true"/>
          <p:nvPr/>
        </p:nvSpPr>
        <p:spPr>
          <a:xfrm rot="0">
            <a:off x="13906746" y="4302906"/>
            <a:ext cx="3810149" cy="1205593"/>
          </a:xfrm>
          <a:prstGeom prst="rect">
            <a:avLst/>
          </a:prstGeom>
        </p:spPr>
        <p:txBody>
          <a:bodyPr anchor="t" rtlCol="false" tIns="0" lIns="0" bIns="0" rIns="0">
            <a:spAutoFit/>
          </a:bodyPr>
          <a:lstStyle/>
          <a:p>
            <a:pPr algn="ctr">
              <a:lnSpc>
                <a:spcPts val="3257"/>
              </a:lnSpc>
            </a:pPr>
            <a:r>
              <a:rPr lang="en-US" sz="2000">
                <a:solidFill>
                  <a:srgbClr val="454240"/>
                </a:solidFill>
                <a:latin typeface="DM Sans"/>
                <a:ea typeface="DM Sans"/>
                <a:cs typeface="DM Sans"/>
                <a:sym typeface="DM Sans"/>
              </a:rPr>
              <a:t>Monthly reduction in ATM operational expenses through accurate forecasting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DFA"/>
            </a:solidFill>
          </p:spPr>
        </p:sp>
      </p:grpSp>
      <p:sp>
        <p:nvSpPr>
          <p:cNvPr name="Freeform 6" id="6"/>
          <p:cNvSpPr/>
          <p:nvPr/>
        </p:nvSpPr>
        <p:spPr>
          <a:xfrm flipH="false" flipV="false" rot="0">
            <a:off x="9924514" y="0"/>
            <a:ext cx="8363486" cy="10287000"/>
          </a:xfrm>
          <a:custGeom>
            <a:avLst/>
            <a:gdLst/>
            <a:ahLst/>
            <a:cxnLst/>
            <a:rect r="r" b="b" t="t" l="l"/>
            <a:pathLst>
              <a:path h="10287000" w="8363486">
                <a:moveTo>
                  <a:pt x="0" y="0"/>
                </a:moveTo>
                <a:lnTo>
                  <a:pt x="8363486" y="0"/>
                </a:lnTo>
                <a:lnTo>
                  <a:pt x="8363486" y="10287000"/>
                </a:lnTo>
                <a:lnTo>
                  <a:pt x="0" y="10287000"/>
                </a:lnTo>
                <a:lnTo>
                  <a:pt x="0" y="0"/>
                </a:lnTo>
                <a:close/>
              </a:path>
            </a:pathLst>
          </a:custGeom>
          <a:blipFill>
            <a:blip r:embed="rId3"/>
            <a:stretch>
              <a:fillRect l="-13945" t="0" r="-9053" b="0"/>
            </a:stretch>
          </a:blipFill>
        </p:spPr>
      </p:sp>
      <p:sp>
        <p:nvSpPr>
          <p:cNvPr name="TextBox 7" id="7"/>
          <p:cNvSpPr txBox="true"/>
          <p:nvPr/>
        </p:nvSpPr>
        <p:spPr>
          <a:xfrm rot="0">
            <a:off x="202844" y="6419810"/>
            <a:ext cx="9172978" cy="1695450"/>
          </a:xfrm>
          <a:prstGeom prst="rect">
            <a:avLst/>
          </a:prstGeom>
        </p:spPr>
        <p:txBody>
          <a:bodyPr anchor="t" rtlCol="false" tIns="0" lIns="0" bIns="0" rIns="0">
            <a:spAutoFit/>
          </a:bodyPr>
          <a:lstStyle/>
          <a:p>
            <a:pPr algn="ctr">
              <a:lnSpc>
                <a:spcPts val="3419"/>
              </a:lnSpc>
            </a:pPr>
            <a:r>
              <a:rPr lang="en-US" sz="2100">
                <a:solidFill>
                  <a:srgbClr val="454240"/>
                </a:solidFill>
                <a:latin typeface="DM Sans"/>
                <a:ea typeface="DM Sans"/>
                <a:cs typeface="DM Sans"/>
                <a:sym typeface="DM Sans"/>
              </a:rPr>
              <a:t>Big data analytics empowers financial institutions to achieve </a:t>
            </a:r>
            <a:r>
              <a:rPr lang="en-US" sz="2100" b="true">
                <a:solidFill>
                  <a:srgbClr val="454240"/>
                </a:solidFill>
                <a:latin typeface="DM Sans Bold"/>
                <a:ea typeface="DM Sans Bold"/>
                <a:cs typeface="DM Sans Bold"/>
                <a:sym typeface="DM Sans Bold"/>
              </a:rPr>
              <a:t>risk reduction</a:t>
            </a:r>
            <a:r>
              <a:rPr lang="en-US" sz="2100">
                <a:solidFill>
                  <a:srgbClr val="454240"/>
                </a:solidFill>
                <a:latin typeface="DM Sans"/>
                <a:ea typeface="DM Sans"/>
                <a:cs typeface="DM Sans"/>
                <a:sym typeface="DM Sans"/>
              </a:rPr>
              <a:t> through intelligent fraud detection, </a:t>
            </a:r>
            <a:r>
              <a:rPr lang="en-US" sz="2100" b="true">
                <a:solidFill>
                  <a:srgbClr val="454240"/>
                </a:solidFill>
                <a:latin typeface="DM Sans Bold"/>
                <a:ea typeface="DM Sans Bold"/>
                <a:cs typeface="DM Sans Bold"/>
                <a:sym typeface="DM Sans Bold"/>
              </a:rPr>
              <a:t>revenue growth</a:t>
            </a:r>
            <a:r>
              <a:rPr lang="en-US" sz="2100">
                <a:solidFill>
                  <a:srgbClr val="454240"/>
                </a:solidFill>
                <a:latin typeface="DM Sans"/>
                <a:ea typeface="DM Sans"/>
                <a:cs typeface="DM Sans"/>
                <a:sym typeface="DM Sans"/>
              </a:rPr>
              <a:t> via sophisticated customer strategies, and </a:t>
            </a:r>
            <a:r>
              <a:rPr lang="en-US" sz="2100" b="true">
                <a:solidFill>
                  <a:srgbClr val="454240"/>
                </a:solidFill>
                <a:latin typeface="DM Sans Bold"/>
                <a:ea typeface="DM Sans Bold"/>
                <a:cs typeface="DM Sans Bold"/>
                <a:sym typeface="DM Sans Bold"/>
              </a:rPr>
              <a:t>operational excellence</a:t>
            </a:r>
            <a:r>
              <a:rPr lang="en-US" sz="2100">
                <a:solidFill>
                  <a:srgbClr val="454240"/>
                </a:solidFill>
                <a:latin typeface="DM Sans"/>
                <a:ea typeface="DM Sans"/>
                <a:cs typeface="DM Sans"/>
                <a:sym typeface="DM Sans"/>
              </a:rPr>
              <a:t> through predictive resource management.</a:t>
            </a:r>
          </a:p>
        </p:txBody>
      </p:sp>
      <p:sp>
        <p:nvSpPr>
          <p:cNvPr name="TextBox 8" id="8"/>
          <p:cNvSpPr txBox="true"/>
          <p:nvPr/>
        </p:nvSpPr>
        <p:spPr>
          <a:xfrm rot="0">
            <a:off x="202844" y="8292153"/>
            <a:ext cx="9172978" cy="1695450"/>
          </a:xfrm>
          <a:prstGeom prst="rect">
            <a:avLst/>
          </a:prstGeom>
        </p:spPr>
        <p:txBody>
          <a:bodyPr anchor="t" rtlCol="false" tIns="0" lIns="0" bIns="0" rIns="0">
            <a:spAutoFit/>
          </a:bodyPr>
          <a:lstStyle/>
          <a:p>
            <a:pPr algn="ctr">
              <a:lnSpc>
                <a:spcPts val="3419"/>
              </a:lnSpc>
            </a:pPr>
            <a:r>
              <a:rPr lang="en-US" sz="2100" b="true">
                <a:solidFill>
                  <a:srgbClr val="454240"/>
                </a:solidFill>
                <a:latin typeface="DM Sans Bold"/>
                <a:ea typeface="DM Sans Bold"/>
                <a:cs typeface="DM Sans Bold"/>
                <a:sym typeface="DM Sans Bold"/>
              </a:rPr>
              <a:t>Technical capabilities demonstrated:</a:t>
            </a:r>
            <a:r>
              <a:rPr lang="en-US" sz="2100">
                <a:solidFill>
                  <a:srgbClr val="454240"/>
                </a:solidFill>
                <a:latin typeface="DM Sans"/>
                <a:ea typeface="DM Sans"/>
                <a:cs typeface="DM Sans"/>
                <a:sym typeface="DM Sans"/>
              </a:rPr>
              <a:t> Large-scale data processing, imbalanced classification, unsupervised clustering, time-series forecasting with Prophet, and end-to-end model deployment using Python, Scikit-learn, and cloud platforms.</a:t>
            </a:r>
          </a:p>
        </p:txBody>
      </p:sp>
      <p:sp>
        <p:nvSpPr>
          <p:cNvPr name="TextBox 9" id="9"/>
          <p:cNvSpPr txBox="true"/>
          <p:nvPr/>
        </p:nvSpPr>
        <p:spPr>
          <a:xfrm rot="0">
            <a:off x="202844" y="253345"/>
            <a:ext cx="9721669" cy="775355"/>
          </a:xfrm>
          <a:prstGeom prst="rect">
            <a:avLst/>
          </a:prstGeom>
        </p:spPr>
        <p:txBody>
          <a:bodyPr anchor="t" rtlCol="false" tIns="0" lIns="0" bIns="0" rIns="0">
            <a:spAutoFit/>
          </a:bodyPr>
          <a:lstStyle/>
          <a:p>
            <a:pPr algn="l">
              <a:lnSpc>
                <a:spcPts val="6269"/>
              </a:lnSpc>
            </a:pPr>
            <a:r>
              <a:rPr lang="en-US" sz="5000">
                <a:solidFill>
                  <a:srgbClr val="000000"/>
                </a:solidFill>
                <a:latin typeface="Libre Baskerville"/>
                <a:ea typeface="Libre Baskerville"/>
                <a:cs typeface="Libre Baskerville"/>
                <a:sym typeface="Libre Baskerville"/>
              </a:rPr>
              <a:t>Concl</a:t>
            </a:r>
            <a:r>
              <a:rPr lang="en-US" sz="5000">
                <a:solidFill>
                  <a:srgbClr val="000000"/>
                </a:solidFill>
                <a:latin typeface="Libre Baskerville"/>
                <a:ea typeface="Libre Baskerville"/>
                <a:cs typeface="Libre Baskerville"/>
                <a:sym typeface="Libre Baskerville"/>
              </a:rPr>
              <a:t>usion &amp; Future Outlook</a:t>
            </a:r>
          </a:p>
        </p:txBody>
      </p:sp>
      <p:sp>
        <p:nvSpPr>
          <p:cNvPr name="TextBox 10" id="10"/>
          <p:cNvSpPr txBox="true"/>
          <p:nvPr/>
        </p:nvSpPr>
        <p:spPr>
          <a:xfrm rot="0">
            <a:off x="-210085" y="1533679"/>
            <a:ext cx="9039552" cy="2250393"/>
          </a:xfrm>
          <a:prstGeom prst="rect">
            <a:avLst/>
          </a:prstGeom>
        </p:spPr>
        <p:txBody>
          <a:bodyPr anchor="t" rtlCol="false" tIns="0" lIns="0" bIns="0" rIns="0">
            <a:spAutoFit/>
          </a:bodyPr>
          <a:lstStyle/>
          <a:p>
            <a:pPr algn="ctr">
              <a:lnSpc>
                <a:spcPts val="4199"/>
              </a:lnSpc>
            </a:pPr>
            <a:r>
              <a:rPr lang="en-US" b="true" sz="2599">
                <a:solidFill>
                  <a:srgbClr val="454240"/>
                </a:solidFill>
                <a:latin typeface="DM Sans Bold"/>
                <a:ea typeface="DM Sans Bold"/>
                <a:cs typeface="DM Sans Bold"/>
                <a:sym typeface="DM Sans Bold"/>
              </a:rPr>
              <a:t>            </a:t>
            </a:r>
            <a:r>
              <a:rPr lang="en-US" b="true" sz="2599">
                <a:solidFill>
                  <a:srgbClr val="454240"/>
                </a:solidFill>
                <a:latin typeface="DM Sans Bold"/>
                <a:ea typeface="DM Sans Bold"/>
                <a:cs typeface="DM Sans Bold"/>
                <a:sym typeface="DM Sans Bold"/>
              </a:rPr>
              <a:t>Big Data Analytics helps financial institutions achieve:</a:t>
            </a:r>
          </a:p>
          <a:p>
            <a:pPr algn="ctr">
              <a:lnSpc>
                <a:spcPts val="3230"/>
              </a:lnSpc>
            </a:pPr>
            <a:r>
              <a:rPr lang="en-US" b="true" sz="2000">
                <a:solidFill>
                  <a:srgbClr val="454240"/>
                </a:solidFill>
                <a:latin typeface="DM Sans Bold"/>
                <a:ea typeface="DM Sans Bold"/>
                <a:cs typeface="DM Sans Bold"/>
                <a:sym typeface="DM Sans Bold"/>
              </a:rPr>
              <a:t>Risk Reduction</a:t>
            </a:r>
            <a:r>
              <a:rPr lang="en-US" sz="2000">
                <a:solidFill>
                  <a:srgbClr val="454240"/>
                </a:solidFill>
                <a:latin typeface="DM Sans"/>
                <a:ea typeface="DM Sans"/>
                <a:cs typeface="DM Sans"/>
                <a:sym typeface="DM Sans"/>
              </a:rPr>
              <a:t> – Accurate and fast fraud detection</a:t>
            </a:r>
          </a:p>
          <a:p>
            <a:pPr algn="ctr">
              <a:lnSpc>
                <a:spcPts val="3230"/>
              </a:lnSpc>
            </a:pPr>
            <a:r>
              <a:rPr lang="en-US" sz="2000">
                <a:solidFill>
                  <a:srgbClr val="454240"/>
                </a:solidFill>
                <a:latin typeface="DM Sans"/>
                <a:ea typeface="DM Sans"/>
                <a:cs typeface="DM Sans"/>
                <a:sym typeface="DM Sans"/>
              </a:rPr>
              <a:t>               </a:t>
            </a:r>
            <a:r>
              <a:rPr lang="en-US" b="true" sz="2000">
                <a:solidFill>
                  <a:srgbClr val="454240"/>
                </a:solidFill>
                <a:latin typeface="DM Sans Bold"/>
                <a:ea typeface="DM Sans Bold"/>
                <a:cs typeface="DM Sans Bold"/>
                <a:sym typeface="DM Sans Bold"/>
              </a:rPr>
              <a:t>   Revenue Growth </a:t>
            </a:r>
            <a:r>
              <a:rPr lang="en-US" sz="2000">
                <a:solidFill>
                  <a:srgbClr val="454240"/>
                </a:solidFill>
                <a:latin typeface="DM Sans"/>
                <a:ea typeface="DM Sans"/>
                <a:cs typeface="DM Sans"/>
                <a:sym typeface="DM Sans"/>
              </a:rPr>
              <a:t>– Better segmentation and retention models</a:t>
            </a:r>
          </a:p>
          <a:p>
            <a:pPr algn="ctr">
              <a:lnSpc>
                <a:spcPts val="3230"/>
              </a:lnSpc>
            </a:pPr>
            <a:r>
              <a:rPr lang="en-US" sz="2000">
                <a:solidFill>
                  <a:srgbClr val="454240"/>
                </a:solidFill>
                <a:latin typeface="DM Sans"/>
                <a:ea typeface="DM Sans"/>
                <a:cs typeface="DM Sans"/>
                <a:sym typeface="DM Sans"/>
              </a:rPr>
              <a:t>         </a:t>
            </a:r>
            <a:r>
              <a:rPr lang="en-US" b="true" sz="2000">
                <a:solidFill>
                  <a:srgbClr val="454240"/>
                </a:solidFill>
                <a:latin typeface="DM Sans Bold"/>
                <a:ea typeface="DM Sans Bold"/>
                <a:cs typeface="DM Sans Bold"/>
                <a:sym typeface="DM Sans Bold"/>
              </a:rPr>
              <a:t>   Cost Savings</a:t>
            </a:r>
            <a:r>
              <a:rPr lang="en-US" sz="2000">
                <a:solidFill>
                  <a:srgbClr val="454240"/>
                </a:solidFill>
                <a:latin typeface="DM Sans"/>
                <a:ea typeface="DM Sans"/>
                <a:cs typeface="DM Sans"/>
                <a:sym typeface="DM Sans"/>
              </a:rPr>
              <a:t> – Smarter forecasting and cash management</a:t>
            </a:r>
          </a:p>
        </p:txBody>
      </p:sp>
      <p:sp>
        <p:nvSpPr>
          <p:cNvPr name="TextBox 11" id="11"/>
          <p:cNvSpPr txBox="true"/>
          <p:nvPr/>
        </p:nvSpPr>
        <p:spPr>
          <a:xfrm rot="0">
            <a:off x="-210085" y="4036005"/>
            <a:ext cx="8490491" cy="2136156"/>
          </a:xfrm>
          <a:prstGeom prst="rect">
            <a:avLst/>
          </a:prstGeom>
        </p:spPr>
        <p:txBody>
          <a:bodyPr anchor="t" rtlCol="false" tIns="0" lIns="0" bIns="0" rIns="0">
            <a:spAutoFit/>
          </a:bodyPr>
          <a:lstStyle/>
          <a:p>
            <a:pPr algn="ctr">
              <a:lnSpc>
                <a:spcPts val="4198"/>
              </a:lnSpc>
            </a:pPr>
            <a:r>
              <a:rPr lang="en-US" b="true" sz="2599">
                <a:solidFill>
                  <a:srgbClr val="454240"/>
                </a:solidFill>
                <a:latin typeface="DM Sans Bold"/>
                <a:ea typeface="DM Sans Bold"/>
                <a:cs typeface="DM Sans Bold"/>
                <a:sym typeface="DM Sans Bold"/>
              </a:rPr>
              <a:t>           </a:t>
            </a:r>
            <a:r>
              <a:rPr lang="en-US" b="true" sz="2599">
                <a:solidFill>
                  <a:srgbClr val="454240"/>
                </a:solidFill>
                <a:latin typeface="DM Sans Bold"/>
                <a:ea typeface="DM Sans Bold"/>
                <a:cs typeface="DM Sans Bold"/>
                <a:sym typeface="DM Sans Bold"/>
              </a:rPr>
              <a:t>Technical Skills Demonstrated:</a:t>
            </a:r>
          </a:p>
          <a:p>
            <a:pPr algn="ctr">
              <a:lnSpc>
                <a:spcPts val="3230"/>
              </a:lnSpc>
            </a:pPr>
            <a:r>
              <a:rPr lang="en-US" sz="2000">
                <a:solidFill>
                  <a:srgbClr val="454240"/>
                </a:solidFill>
                <a:latin typeface="DM Sans"/>
                <a:ea typeface="DM Sans"/>
                <a:cs typeface="DM Sans"/>
                <a:sym typeface="DM Sans"/>
              </a:rPr>
              <a:t>            </a:t>
            </a:r>
            <a:r>
              <a:rPr lang="en-US" b="true" sz="2000">
                <a:solidFill>
                  <a:srgbClr val="454240"/>
                </a:solidFill>
                <a:latin typeface="DM Sans Bold"/>
                <a:ea typeface="DM Sans Bold"/>
                <a:cs typeface="DM Sans Bold"/>
                <a:sym typeface="DM Sans Bold"/>
              </a:rPr>
              <a:t>Data Handling</a:t>
            </a:r>
            <a:r>
              <a:rPr lang="en-US" sz="2000">
                <a:solidFill>
                  <a:srgbClr val="454240"/>
                </a:solidFill>
                <a:latin typeface="DM Sans"/>
                <a:ea typeface="DM Sans"/>
                <a:cs typeface="DM Sans"/>
                <a:sym typeface="DM Sans"/>
              </a:rPr>
              <a:t>: Large, imbalanced, and time-series dat</a:t>
            </a:r>
          </a:p>
          <a:p>
            <a:pPr algn="ctr">
              <a:lnSpc>
                <a:spcPts val="3230"/>
              </a:lnSpc>
            </a:pPr>
            <a:r>
              <a:rPr lang="en-US" b="true" sz="2000">
                <a:solidFill>
                  <a:srgbClr val="454240"/>
                </a:solidFill>
                <a:latin typeface="DM Sans Bold"/>
                <a:ea typeface="DM Sans Bold"/>
                <a:cs typeface="DM Sans Bold"/>
                <a:sym typeface="DM Sans Bold"/>
              </a:rPr>
              <a:t>Modeling</a:t>
            </a:r>
            <a:r>
              <a:rPr lang="en-US" sz="2000">
                <a:solidFill>
                  <a:srgbClr val="454240"/>
                </a:solidFill>
                <a:latin typeface="DM Sans"/>
                <a:ea typeface="DM Sans"/>
                <a:cs typeface="DM Sans"/>
                <a:sym typeface="DM Sans"/>
              </a:rPr>
              <a:t>: Clustering, Classification, Forecasting</a:t>
            </a:r>
          </a:p>
          <a:p>
            <a:pPr algn="ctr">
              <a:lnSpc>
                <a:spcPts val="3230"/>
              </a:lnSpc>
            </a:pPr>
            <a:r>
              <a:rPr lang="en-US" sz="2000">
                <a:solidFill>
                  <a:srgbClr val="454240"/>
                </a:solidFill>
                <a:latin typeface="DM Sans"/>
                <a:ea typeface="DM Sans"/>
                <a:cs typeface="DM Sans"/>
                <a:sym typeface="DM Sans"/>
              </a:rPr>
              <a:t>                    </a:t>
            </a:r>
            <a:r>
              <a:rPr lang="en-US" b="true" sz="2000">
                <a:solidFill>
                  <a:srgbClr val="454240"/>
                </a:solidFill>
                <a:latin typeface="DM Sans Bold"/>
                <a:ea typeface="DM Sans Bold"/>
                <a:cs typeface="DM Sans Bold"/>
                <a:sym typeface="DM Sans Bold"/>
              </a:rPr>
              <a:t>Tools Used:</a:t>
            </a:r>
            <a:r>
              <a:rPr lang="en-US" sz="2000">
                <a:solidFill>
                  <a:srgbClr val="454240"/>
                </a:solidFill>
                <a:latin typeface="DM Sans"/>
                <a:ea typeface="DM Sans"/>
                <a:cs typeface="DM Sans"/>
                <a:sym typeface="DM Sans"/>
              </a:rPr>
              <a:t> Python, Scikit-learn, Prophet, Databricks, Cloud platforms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DAG4LF1o5Nk</dc:identifier>
  <dcterms:modified xsi:type="dcterms:W3CDTF">2011-08-01T06:04:30Z</dcterms:modified>
  <cp:revision>1</cp:revision>
  <dc:title>Finance( Banking, Financial services, Insurance)</dc:title>
</cp:coreProperties>
</file>